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team and title. Submission 2 adds a small executed software demonstration to the earlier theoretical report. There is no physical wearable or connected appliance. All experimental classification data are synthetic.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motivation comes from the supplied synopsis. A gesture interface would complement accessible fallbacks, not serve every disability. Explain that incidental movement and duplicated window outputs make continuous control harder than classifying isolated examples.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this is a local engineering integration gap, not a claim that prior research has never studied gesture interfaces. The literature source audit has ten primary author/laboratory records. Publisher/Scopus access was blocked; zero Scopus entries were independently verified. Institutional verification is required before claiming faculty compliance.</a:t>
            </a:r>
          </a:p>
          <a:p/>
          <a:p>
            <a:r>
              <a:t>Sources:</a:t>
            </a:r>
          </a:p>
          <a:p>
            <a:r>
              <a:t>1. TinyHAR: A Lightweight Deep Learning Model Designed for Human Activity Recognition (2022); Proceedings of the International Symposium on Wearable Computers; https://doi.org/10.1145/3544794.3558467; author evidence: https://github.com/teco-kit/ISWC22-HAR</a:t>
            </a:r>
          </a:p>
          <a:p>
            <a:r>
              <a:t>2. Attend and Discriminate: Beyond the State-of-the-Art for Human Activity Recognition using Wearable Sensors (2021); Proceedings of the ACM on Interactive, Mobile, Wearable and Ubiquitous Technologies; https://doi.org/10.1145/3448083; author evidence: https://github.com/AdelaideAuto-IDLab/Attend-And-Discriminate</a:t>
            </a:r>
          </a:p>
          <a:p>
            <a:r>
              <a:t>3. TinyOdom: Hardware-Aware Efficient Neural Inertial Navigation (2022); Proceedings of the ACM on Interactive, Mobile, Wearable and Ubiquitous Technologies; https://doi.org/10.1145/3534594; author evidence: https://github.com/nesl/tinyodom</a:t>
            </a:r>
          </a:p>
          <a:p>
            <a:r>
              <a:t>4. MCUNet: Tiny Deep Learning on IoT Devices (2020); Advances in Neural Information Processing Systems; https://doi.org/10.48550/arXiv.2007.10319; author evidence: https://github.com/mit-han-lab/mcunet</a:t>
            </a:r>
          </a:p>
          <a:p>
            <a:r>
              <a:t>5. MCUNetV2: Memory-Efficient Patch-based Inference for Tiny Deep Learning (2021); Advances in Neural Information Processing Systems; https://doi.org/10.48550/arXiv.2110.15352; author evidence: https://github.com/mit-han-lab/mcunet</a:t>
            </a:r>
          </a:p>
          <a:p>
            <a:r>
              <a:t>6. DORY: Automatic End-to-End Deployment of Real-World DNNs on Low-Cost IoT MCUs (2021); IEEE Transactions on Computers; https://doi.org/10.1109/TC.2021.3066883; author evidence: https://github.com/pulp-platform/dory</a:t>
            </a:r>
          </a:p>
          <a:p>
            <a:r>
              <a:t>7. MLPerf Tiny Benchmark (2021); Proceedings of the Neural Information Processing Systems Track on Datasets and Benchmarks; https://doi.org/10.48550/arXiv.2106.07597; author evidence: https://github.com/mlcommons/tiny</a:t>
            </a:r>
          </a:p>
          <a:p>
            <a:r>
              <a:t>8. Once-for-All: Train One Network and Specialize it for Efficient Deployment (2020); International Conference on Learning Representations; https://doi.org/10.48550/arXiv.1908.09791; author evidence: https://github.com/mit-han-lab/once-for-all</a:t>
            </a:r>
          </a:p>
          <a:p>
            <a:r>
              <a:t>9. TinyTL: Reduce Activations, Not Trainable Parameters for Efficient On-Device Learning (2020); Advances in Neural Information Processing Systems; https://doi.org/10.48550/arXiv.2007.11622; author evidence: https://github.com/mit-han-lab/tinyml/tree/master/tinytl</a:t>
            </a:r>
          </a:p>
          <a:p>
            <a:r>
              <a:t>10. On-Device Training Under 256KB Memory (2022); Advances in Neural Information Processing Systems; https://doi.org/10.48550/arXiv.2206.15472; author evidence: https://github.com/mit-han-lab/tiny-training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solid implemented host pipeline. Six-axis samples are generated in Python, not sampled from real hardware. A future MCU could use an IMU data-ready interrupt or timer and I2C/SPI, with a fixed-size ring buffer. The diagram is made of editable PowerPoint shapes; its matching report figure is TikZ.</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labels are background, swipe_left, swipe_right and wave. Synthetic angular-velocity pulses distinguish directions; oscillation defines wave. Frequency, phase, gain and noise vary by independent recording. The complete generator and seed manifest are included. PyTorch GRU uses two bias vectors per gate. Quantization is not executed.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demonstration: from Submission_2 run `python demo/demo.py`. The bundled checkpoint loads without retraining. Run `python demo/demo.py --train` to reproduce training and replace metrics. The displayed table is rendered from actual saved stdout, not invented predictions. Classification metrics are before command rejection. Host timing is CPU, batch one, one thread, ten warmups and 100 calls; it excludes acquisition and preprocessing. All 150 gesture windows issued correct commands and no synthetic background window issued a command in the recorded run. This is not a continuous real-world false-activation result.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confidence threshold is not a guarantee for unfamiliar motion. Current outputs are per-window; the software does not debounce a continuous appliance controller. Quantization and pruning are not applied. No board has been selected. Scopus verification must be performed using institutional access, and the similarity report must use the institution-approved process. Do not claim either check is complete.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Finish by running the saved-model demonstration. Refer to README.md for installation, tests, report compilation and rebuilding slides. The report is at most six pages, references and primary-source audit are included, and similarity/indexing evidence are explicitly outstanding. The package contains no purchased or required hardware.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square" lIns="18288" rIns="18288" tIns="0" bIns="0">
            <a:spAutoFit/>
          </a:bodyPr>
          <a:lstStyle/>
          <a:p>
            <a:pPr>
              <a:spcAft>
                <a:spcPts val="500"/>
              </a:spcAft>
              <a:defRPr sz="1200" b="1">
                <a:solidFill>
                  <a:srgbClr val="087F8C"/>
                </a:solidFill>
                <a:latin typeface="DejaVu Sans"/>
              </a:defRPr>
            </a:pPr>
            <a:r>
              <a:t>ICT 3132 EMBEDDED SYSTEMS · SUBMISSION 2</a:t>
            </a:r>
          </a:p>
        </p:txBody>
      </p:sp>
      <p:sp>
        <p:nvSpPr>
          <p:cNvPr id="4" name="TextBox 3"/>
          <p:cNvSpPr txBox="1"/>
          <p:nvPr/>
        </p:nvSpPr>
        <p:spPr>
          <a:xfrm>
            <a:off x="594360" y="822960"/>
            <a:ext cx="10972800" cy="960120"/>
          </a:xfrm>
          <a:prstGeom prst="rect">
            <a:avLst/>
          </a:prstGeom>
          <a:noFill/>
        </p:spPr>
        <p:txBody>
          <a:bodyPr wrap="square" lIns="18288" rIns="18288" tIns="0" bIns="0">
            <a:spAutoFit/>
          </a:bodyPr>
          <a:lstStyle/>
          <a:p>
            <a:pPr>
              <a:spcAft>
                <a:spcPts val="500"/>
              </a:spcAft>
              <a:defRPr sz="3000" b="1">
                <a:solidFill>
                  <a:srgbClr val="132B43"/>
                </a:solidFill>
                <a:latin typeface="DejaVu Sans"/>
              </a:defRPr>
            </a:pPr>
            <a:r>
              <a:t>Wearable Gesture Controller</a:t>
            </a:r>
          </a:p>
        </p:txBody>
      </p:sp>
      <p:sp>
        <p:nvSpPr>
          <p:cNvPr id="5" name="Rectangle 4"/>
          <p:cNvSpPr/>
          <p:nvPr/>
        </p:nvSpPr>
        <p:spPr>
          <a:xfrm>
            <a:off x="594360" y="6373368"/>
            <a:ext cx="10972800" cy="10972"/>
          </a:xfrm>
          <a:prstGeom prst="rect">
            <a:avLst/>
          </a:prstGeom>
          <a:solidFill>
            <a:srgbClr val="D7D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73952"/>
            <a:ext cx="10241280" cy="210312"/>
          </a:xfrm>
          <a:prstGeom prst="rect">
            <a:avLst/>
          </a:prstGeom>
          <a:noFill/>
        </p:spPr>
        <p:txBody>
          <a:bodyPr wrap="square" lIns="18288" rIns="18288" tIns="0" bIns="0">
            <a:spAutoFit/>
          </a:bodyPr>
          <a:lstStyle/>
          <a:p>
            <a:pPr>
              <a:spcAft>
                <a:spcPts val="500"/>
              </a:spcAft>
              <a:defRPr sz="1000" b="0">
                <a:solidFill>
                  <a:srgbClr val="536577"/>
                </a:solidFill>
                <a:latin typeface="DejaVu Sans"/>
              </a:defRPr>
            </a:pPr>
            <a:r>
              <a:t>MIT Manipal · V Semester B.Tech. IT · Synthetic software evidence only</a:t>
            </a:r>
          </a:p>
        </p:txBody>
      </p:sp>
      <p:sp>
        <p:nvSpPr>
          <p:cNvPr id="7" name="TextBox 6"/>
          <p:cNvSpPr txBox="1"/>
          <p:nvPr/>
        </p:nvSpPr>
        <p:spPr>
          <a:xfrm>
            <a:off x="11064240" y="6437376"/>
            <a:ext cx="457200" cy="274320"/>
          </a:xfrm>
          <a:prstGeom prst="rect">
            <a:avLst/>
          </a:prstGeom>
          <a:noFill/>
        </p:spPr>
        <p:txBody>
          <a:bodyPr wrap="square" lIns="18288" rIns="18288" tIns="0" bIns="0">
            <a:spAutoFit/>
          </a:bodyPr>
          <a:lstStyle/>
          <a:p>
            <a:pPr algn="r">
              <a:spcAft>
                <a:spcPts val="500"/>
              </a:spcAft>
              <a:defRPr sz="1100" b="0">
                <a:solidFill>
                  <a:srgbClr val="536577"/>
                </a:solidFill>
                <a:latin typeface="DejaVu Sans"/>
              </a:defRPr>
            </a:pPr>
            <a:r>
              <a:t>1</a:t>
            </a:r>
          </a:p>
        </p:txBody>
      </p:sp>
      <p:sp>
        <p:nvSpPr>
          <p:cNvPr id="8" name="TextBox 7"/>
          <p:cNvSpPr txBox="1"/>
          <p:nvPr/>
        </p:nvSpPr>
        <p:spPr>
          <a:xfrm>
            <a:off x="621792" y="1673352"/>
            <a:ext cx="10881360" cy="914400"/>
          </a:xfrm>
          <a:prstGeom prst="rect">
            <a:avLst/>
          </a:prstGeom>
          <a:noFill/>
        </p:spPr>
        <p:txBody>
          <a:bodyPr wrap="square" lIns="18288" rIns="18288" tIns="0" bIns="0">
            <a:spAutoFit/>
          </a:bodyPr>
          <a:lstStyle/>
          <a:p>
            <a:pPr>
              <a:spcAft>
                <a:spcPts val="500"/>
              </a:spcAft>
              <a:defRPr sz="2700" b="0">
                <a:solidFill>
                  <a:srgbClr val="132B43"/>
                </a:solidFill>
                <a:latin typeface="DejaVu Sans"/>
              </a:defRPr>
            </a:pPr>
            <a:r>
              <a:t>An IMU-Based Edge Device for</a:t>
            </a:r>
          </a:p>
          <a:p>
            <a:pPr>
              <a:spcAft>
                <a:spcPts val="500"/>
              </a:spcAft>
              <a:defRPr sz="2700" b="0">
                <a:solidFill>
                  <a:srgbClr val="132B43"/>
                </a:solidFill>
                <a:latin typeface="DejaVu Sans"/>
              </a:defRPr>
            </a:pPr>
            <a:r>
              <a:t>Gesture-Driven Smart Home Control</a:t>
            </a:r>
          </a:p>
        </p:txBody>
      </p:sp>
      <p:sp>
        <p:nvSpPr>
          <p:cNvPr id="9" name="Rounded Rectangle 8"/>
          <p:cNvSpPr/>
          <p:nvPr/>
        </p:nvSpPr>
        <p:spPr>
          <a:xfrm>
            <a:off x="621792" y="2852928"/>
            <a:ext cx="10927080" cy="612648"/>
          </a:xfrm>
          <a:prstGeom prst="roundRect">
            <a:avLst>
              <a:gd name="adj" fmla="val 8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3008376"/>
            <a:ext cx="10424160" cy="320040"/>
          </a:xfrm>
          <a:prstGeom prst="rect">
            <a:avLst/>
          </a:prstGeom>
          <a:noFill/>
        </p:spPr>
        <p:txBody>
          <a:bodyPr wrap="square" lIns="18288" rIns="18288" tIns="0" bIns="0">
            <a:spAutoFit/>
          </a:bodyPr>
          <a:lstStyle/>
          <a:p>
            <a:pPr>
              <a:spcAft>
                <a:spcPts val="500"/>
              </a:spcAft>
              <a:defRPr sz="1700" b="1">
                <a:solidFill>
                  <a:srgbClr val="087F8C"/>
                </a:solidFill>
                <a:latin typeface="DejaVu Sans"/>
              </a:defRPr>
            </a:pPr>
            <a:r>
              <a:t>CPU-only demonstration • No hardware required • Synthetic data</a:t>
            </a:r>
          </a:p>
        </p:txBody>
      </p:sp>
      <p:sp>
        <p:nvSpPr>
          <p:cNvPr id="11" name="Rounded Rectangle 10"/>
          <p:cNvSpPr/>
          <p:nvPr/>
        </p:nvSpPr>
        <p:spPr>
          <a:xfrm>
            <a:off x="621792" y="3840480"/>
            <a:ext cx="3474720" cy="1280160"/>
          </a:xfrm>
          <a:prstGeom prst="roundRect">
            <a:avLst>
              <a:gd name="adj" fmla="val 8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4069080"/>
            <a:ext cx="3108960" cy="365760"/>
          </a:xfrm>
          <a:prstGeom prst="rect">
            <a:avLst/>
          </a:prstGeom>
          <a:noFill/>
        </p:spPr>
        <p:txBody>
          <a:bodyPr wrap="square" lIns="18288" rIns="18288" tIns="0" bIns="0">
            <a:spAutoFit/>
          </a:bodyPr>
          <a:lstStyle/>
          <a:p>
            <a:pPr>
              <a:spcAft>
                <a:spcPts val="500"/>
              </a:spcAft>
              <a:defRPr sz="2100" b="1">
                <a:solidFill>
                  <a:srgbClr val="203448"/>
                </a:solidFill>
                <a:latin typeface="DejaVu Sans"/>
              </a:defRPr>
            </a:pPr>
            <a:r>
              <a:t>Arya Choudhary</a:t>
            </a:r>
          </a:p>
        </p:txBody>
      </p:sp>
      <p:sp>
        <p:nvSpPr>
          <p:cNvPr id="13" name="TextBox 12"/>
          <p:cNvSpPr txBox="1"/>
          <p:nvPr/>
        </p:nvSpPr>
        <p:spPr>
          <a:xfrm>
            <a:off x="804672" y="4590288"/>
            <a:ext cx="3108960" cy="292608"/>
          </a:xfrm>
          <a:prstGeom prst="rect">
            <a:avLst/>
          </a:prstGeom>
          <a:noFill/>
        </p:spPr>
        <p:txBody>
          <a:bodyPr wrap="square" lIns="18288" rIns="18288" tIns="0" bIns="0">
            <a:spAutoFit/>
          </a:bodyPr>
          <a:lstStyle/>
          <a:p>
            <a:pPr>
              <a:spcAft>
                <a:spcPts val="500"/>
              </a:spcAft>
              <a:defRPr sz="1800" b="0">
                <a:solidFill>
                  <a:srgbClr val="536577"/>
                </a:solidFill>
                <a:latin typeface="DejaVu Sans"/>
              </a:defRPr>
            </a:pPr>
            <a:r>
              <a:t>240911438</a:t>
            </a:r>
          </a:p>
        </p:txBody>
      </p:sp>
      <p:sp>
        <p:nvSpPr>
          <p:cNvPr id="14" name="Rounded Rectangle 13"/>
          <p:cNvSpPr/>
          <p:nvPr/>
        </p:nvSpPr>
        <p:spPr>
          <a:xfrm>
            <a:off x="4315968" y="3840480"/>
            <a:ext cx="3474720" cy="1280160"/>
          </a:xfrm>
          <a:prstGeom prst="roundRect">
            <a:avLst>
              <a:gd name="adj" fmla="val 8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4069080"/>
            <a:ext cx="3108960" cy="365760"/>
          </a:xfrm>
          <a:prstGeom prst="rect">
            <a:avLst/>
          </a:prstGeom>
          <a:noFill/>
        </p:spPr>
        <p:txBody>
          <a:bodyPr wrap="square" lIns="18288" rIns="18288" tIns="0" bIns="0">
            <a:spAutoFit/>
          </a:bodyPr>
          <a:lstStyle/>
          <a:p>
            <a:pPr>
              <a:spcAft>
                <a:spcPts val="500"/>
              </a:spcAft>
              <a:defRPr sz="2100" b="1">
                <a:solidFill>
                  <a:srgbClr val="203448"/>
                </a:solidFill>
                <a:latin typeface="DejaVu Sans"/>
              </a:defRPr>
            </a:pPr>
            <a:r>
              <a:t>Sanika Singh</a:t>
            </a:r>
          </a:p>
        </p:txBody>
      </p:sp>
      <p:sp>
        <p:nvSpPr>
          <p:cNvPr id="16" name="TextBox 15"/>
          <p:cNvSpPr txBox="1"/>
          <p:nvPr/>
        </p:nvSpPr>
        <p:spPr>
          <a:xfrm>
            <a:off x="4498848" y="4590288"/>
            <a:ext cx="3108960" cy="292608"/>
          </a:xfrm>
          <a:prstGeom prst="rect">
            <a:avLst/>
          </a:prstGeom>
          <a:noFill/>
        </p:spPr>
        <p:txBody>
          <a:bodyPr wrap="square" lIns="18288" rIns="18288" tIns="0" bIns="0">
            <a:spAutoFit/>
          </a:bodyPr>
          <a:lstStyle/>
          <a:p>
            <a:pPr>
              <a:spcAft>
                <a:spcPts val="500"/>
              </a:spcAft>
              <a:defRPr sz="1800" b="0">
                <a:solidFill>
                  <a:srgbClr val="536577"/>
                </a:solidFill>
                <a:latin typeface="DejaVu Sans"/>
              </a:defRPr>
            </a:pPr>
            <a:r>
              <a:t>240911664</a:t>
            </a:r>
          </a:p>
        </p:txBody>
      </p:sp>
      <p:sp>
        <p:nvSpPr>
          <p:cNvPr id="17" name="Rounded Rectangle 16"/>
          <p:cNvSpPr/>
          <p:nvPr/>
        </p:nvSpPr>
        <p:spPr>
          <a:xfrm>
            <a:off x="8010144" y="3840480"/>
            <a:ext cx="3474720" cy="1280160"/>
          </a:xfrm>
          <a:prstGeom prst="roundRect">
            <a:avLst>
              <a:gd name="adj" fmla="val 8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93023" y="4069080"/>
            <a:ext cx="3108960" cy="365760"/>
          </a:xfrm>
          <a:prstGeom prst="rect">
            <a:avLst/>
          </a:prstGeom>
          <a:noFill/>
        </p:spPr>
        <p:txBody>
          <a:bodyPr wrap="square" lIns="18288" rIns="18288" tIns="0" bIns="0">
            <a:spAutoFit/>
          </a:bodyPr>
          <a:lstStyle/>
          <a:p>
            <a:pPr>
              <a:spcAft>
                <a:spcPts val="500"/>
              </a:spcAft>
              <a:defRPr sz="2100" b="1">
                <a:solidFill>
                  <a:srgbClr val="203448"/>
                </a:solidFill>
                <a:latin typeface="DejaVu Sans"/>
              </a:defRPr>
            </a:pPr>
            <a:r>
              <a:t>Vishad Sharma</a:t>
            </a:r>
          </a:p>
        </p:txBody>
      </p:sp>
      <p:sp>
        <p:nvSpPr>
          <p:cNvPr id="19" name="TextBox 18"/>
          <p:cNvSpPr txBox="1"/>
          <p:nvPr/>
        </p:nvSpPr>
        <p:spPr>
          <a:xfrm>
            <a:off x="8193023" y="4590288"/>
            <a:ext cx="3108960" cy="292608"/>
          </a:xfrm>
          <a:prstGeom prst="rect">
            <a:avLst/>
          </a:prstGeom>
          <a:noFill/>
        </p:spPr>
        <p:txBody>
          <a:bodyPr wrap="square" lIns="18288" rIns="18288" tIns="0" bIns="0">
            <a:spAutoFit/>
          </a:bodyPr>
          <a:lstStyle/>
          <a:p>
            <a:pPr>
              <a:spcAft>
                <a:spcPts val="500"/>
              </a:spcAft>
              <a:defRPr sz="1800" b="0">
                <a:solidFill>
                  <a:srgbClr val="536577"/>
                </a:solidFill>
                <a:latin typeface="DejaVu Sans"/>
              </a:defRPr>
            </a:pPr>
            <a:r>
              <a:t>240911580</a:t>
            </a:r>
          </a:p>
        </p:txBody>
      </p:sp>
      <p:sp>
        <p:nvSpPr>
          <p:cNvPr id="20" name="TextBox 19"/>
          <p:cNvSpPr txBox="1"/>
          <p:nvPr/>
        </p:nvSpPr>
        <p:spPr>
          <a:xfrm>
            <a:off x="640080" y="5596128"/>
            <a:ext cx="10607040" cy="365760"/>
          </a:xfrm>
          <a:prstGeom prst="rect">
            <a:avLst/>
          </a:prstGeom>
          <a:noFill/>
        </p:spPr>
        <p:txBody>
          <a:bodyPr wrap="square" lIns="18288" rIns="18288" tIns="0" bIns="0">
            <a:spAutoFit/>
          </a:bodyPr>
          <a:lstStyle/>
          <a:p>
            <a:pPr>
              <a:spcAft>
                <a:spcPts val="500"/>
              </a:spcAft>
              <a:defRPr sz="1600" b="0">
                <a:solidFill>
                  <a:srgbClr val="536577"/>
                </a:solidFill>
                <a:latin typeface="DejaVu Sans"/>
              </a:defRPr>
            </a:pPr>
            <a:r>
              <a:t>V Semester B.Tech. IT · School of Computer Engineering · MIT Manipal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square" lIns="18288" rIns="18288" tIns="0" bIns="0">
            <a:spAutoFit/>
          </a:bodyPr>
          <a:lstStyle/>
          <a:p>
            <a:pPr>
              <a:spcAft>
                <a:spcPts val="500"/>
              </a:spcAft>
              <a:defRPr sz="1200" b="1">
                <a:solidFill>
                  <a:srgbClr val="087F8C"/>
                </a:solidFill>
                <a:latin typeface="DejaVu Sans"/>
              </a:defRPr>
            </a:pPr>
            <a:r>
              <a:t>ICT 3132 · SUBMISSION 2</a:t>
            </a:r>
          </a:p>
        </p:txBody>
      </p:sp>
      <p:sp>
        <p:nvSpPr>
          <p:cNvPr id="4" name="TextBox 3"/>
          <p:cNvSpPr txBox="1"/>
          <p:nvPr/>
        </p:nvSpPr>
        <p:spPr>
          <a:xfrm>
            <a:off x="594360" y="822960"/>
            <a:ext cx="10972800" cy="960120"/>
          </a:xfrm>
          <a:prstGeom prst="rect">
            <a:avLst/>
          </a:prstGeom>
          <a:noFill/>
        </p:spPr>
        <p:txBody>
          <a:bodyPr wrap="square" lIns="18288" rIns="18288" tIns="0" bIns="0">
            <a:spAutoFit/>
          </a:bodyPr>
          <a:lstStyle/>
          <a:p>
            <a:pPr>
              <a:spcAft>
                <a:spcPts val="500"/>
              </a:spcAft>
              <a:defRPr sz="3000" b="1">
                <a:solidFill>
                  <a:srgbClr val="132B43"/>
                </a:solidFill>
                <a:latin typeface="DejaVu Sans"/>
              </a:defRPr>
            </a:pPr>
            <a:r>
              <a:t>Problem statement and motivation</a:t>
            </a:r>
          </a:p>
        </p:txBody>
      </p:sp>
      <p:sp>
        <p:nvSpPr>
          <p:cNvPr id="5" name="Rectangle 4"/>
          <p:cNvSpPr/>
          <p:nvPr/>
        </p:nvSpPr>
        <p:spPr>
          <a:xfrm>
            <a:off x="594360" y="6373368"/>
            <a:ext cx="10972800" cy="10972"/>
          </a:xfrm>
          <a:prstGeom prst="rect">
            <a:avLst/>
          </a:prstGeom>
          <a:solidFill>
            <a:srgbClr val="D7D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73952"/>
            <a:ext cx="10241280" cy="210312"/>
          </a:xfrm>
          <a:prstGeom prst="rect">
            <a:avLst/>
          </a:prstGeom>
          <a:noFill/>
        </p:spPr>
        <p:txBody>
          <a:bodyPr wrap="square" lIns="18288" rIns="18288" tIns="0" bIns="0">
            <a:spAutoFit/>
          </a:bodyPr>
          <a:lstStyle/>
          <a:p>
            <a:pPr>
              <a:spcAft>
                <a:spcPts val="500"/>
              </a:spcAft>
              <a:defRPr sz="1000" b="0">
                <a:solidFill>
                  <a:srgbClr val="536577"/>
                </a:solidFill>
                <a:latin typeface="DejaVu Sans"/>
              </a:defRPr>
            </a:pPr>
            <a:r>
              <a:t>MIT Manipal · V Semester B.Tech. IT · Synthetic software evidence only</a:t>
            </a:r>
          </a:p>
        </p:txBody>
      </p:sp>
      <p:sp>
        <p:nvSpPr>
          <p:cNvPr id="7" name="TextBox 6"/>
          <p:cNvSpPr txBox="1"/>
          <p:nvPr/>
        </p:nvSpPr>
        <p:spPr>
          <a:xfrm>
            <a:off x="11064240" y="6437376"/>
            <a:ext cx="457200" cy="274320"/>
          </a:xfrm>
          <a:prstGeom prst="rect">
            <a:avLst/>
          </a:prstGeom>
          <a:noFill/>
        </p:spPr>
        <p:txBody>
          <a:bodyPr wrap="square" lIns="18288" rIns="18288" tIns="0" bIns="0">
            <a:spAutoFit/>
          </a:bodyPr>
          <a:lstStyle/>
          <a:p>
            <a:pPr algn="r">
              <a:spcAft>
                <a:spcPts val="500"/>
              </a:spcAft>
              <a:defRPr sz="1100" b="0">
                <a:solidFill>
                  <a:srgbClr val="536577"/>
                </a:solidFill>
                <a:latin typeface="DejaVu Sans"/>
              </a:defRPr>
            </a:pPr>
            <a:r>
              <a:t>2</a:t>
            </a:r>
          </a:p>
        </p:txBody>
      </p:sp>
      <p:sp>
        <p:nvSpPr>
          <p:cNvPr id="8" name="TextBox 7"/>
          <p:cNvSpPr txBox="1"/>
          <p:nvPr/>
        </p:nvSpPr>
        <p:spPr>
          <a:xfrm>
            <a:off x="640080" y="1828800"/>
            <a:ext cx="5120640" cy="384048"/>
          </a:xfrm>
          <a:prstGeom prst="rect">
            <a:avLst/>
          </a:prstGeom>
          <a:noFill/>
        </p:spPr>
        <p:txBody>
          <a:bodyPr wrap="square" lIns="18288" rIns="18288" tIns="0" bIns="0">
            <a:spAutoFit/>
          </a:bodyPr>
          <a:lstStyle/>
          <a:p>
            <a:pPr>
              <a:spcAft>
                <a:spcPts val="500"/>
              </a:spcAft>
              <a:defRPr sz="2100" b="1">
                <a:solidFill>
                  <a:srgbClr val="132B43"/>
                </a:solidFill>
                <a:latin typeface="DejaVu Sans"/>
              </a:defRPr>
            </a:pPr>
            <a:r>
              <a:t>An additional interaction channel</a:t>
            </a:r>
          </a:p>
        </p:txBody>
      </p:sp>
      <p:sp>
        <p:nvSpPr>
          <p:cNvPr id="9" name="TextBox 8"/>
          <p:cNvSpPr txBox="1"/>
          <p:nvPr/>
        </p:nvSpPr>
        <p:spPr>
          <a:xfrm>
            <a:off x="640080" y="2313432"/>
            <a:ext cx="5120640" cy="960120"/>
          </a:xfrm>
          <a:prstGeom prst="rect">
            <a:avLst/>
          </a:prstGeom>
          <a:noFill/>
        </p:spPr>
        <p:txBody>
          <a:bodyPr wrap="square" lIns="18288" rIns="18288" tIns="0" bIns="0">
            <a:spAutoFit/>
          </a:bodyPr>
          <a:lstStyle/>
          <a:p>
            <a:pPr>
              <a:spcAft>
                <a:spcPts val="500"/>
              </a:spcAft>
              <a:defRPr sz="1800" b="0">
                <a:solidFill>
                  <a:srgbClr val="536577"/>
                </a:solidFill>
                <a:latin typeface="DejaVu Sans"/>
              </a:defRPr>
            </a:pPr>
            <a:r>
              <a:t>Speech, reach, or fine-motor limitations can make conventional controls difficult to use.</a:t>
            </a:r>
          </a:p>
        </p:txBody>
      </p:sp>
      <p:sp>
        <p:nvSpPr>
          <p:cNvPr id="10" name="TextBox 9"/>
          <p:cNvSpPr txBox="1"/>
          <p:nvPr/>
        </p:nvSpPr>
        <p:spPr>
          <a:xfrm>
            <a:off x="640080" y="3456432"/>
            <a:ext cx="5120640" cy="384048"/>
          </a:xfrm>
          <a:prstGeom prst="rect">
            <a:avLst/>
          </a:prstGeom>
          <a:noFill/>
        </p:spPr>
        <p:txBody>
          <a:bodyPr wrap="square" lIns="18288" rIns="18288" tIns="0" bIns="0">
            <a:spAutoFit/>
          </a:bodyPr>
          <a:lstStyle/>
          <a:p>
            <a:pPr>
              <a:spcAft>
                <a:spcPts val="500"/>
              </a:spcAft>
              <a:defRPr sz="2100" b="1">
                <a:solidFill>
                  <a:srgbClr val="132B43"/>
                </a:solidFill>
                <a:latin typeface="DejaVu Sans"/>
              </a:defRPr>
            </a:pPr>
            <a:r>
              <a:t>The engineering problem</a:t>
            </a:r>
          </a:p>
        </p:txBody>
      </p:sp>
      <p:sp>
        <p:nvSpPr>
          <p:cNvPr id="11" name="TextBox 10"/>
          <p:cNvSpPr txBox="1"/>
          <p:nvPr/>
        </p:nvSpPr>
        <p:spPr>
          <a:xfrm>
            <a:off x="640080" y="3941063"/>
            <a:ext cx="5120640" cy="960120"/>
          </a:xfrm>
          <a:prstGeom prst="rect">
            <a:avLst/>
          </a:prstGeom>
          <a:noFill/>
        </p:spPr>
        <p:txBody>
          <a:bodyPr wrap="square" lIns="18288" rIns="18288" tIns="0" bIns="0">
            <a:spAutoFit/>
          </a:bodyPr>
          <a:lstStyle/>
          <a:p>
            <a:pPr>
              <a:spcAft>
                <a:spcPts val="500"/>
              </a:spcAft>
              <a:defRPr sz="1800" b="0">
                <a:solidFill>
                  <a:srgbClr val="536577"/>
                </a:solidFill>
                <a:latin typeface="DejaVu Sans"/>
              </a:defRPr>
            </a:pPr>
            <a:r>
              <a:t>Translate a bounded six-channel motion window into a command, while allowing NO_COMMAND.</a:t>
            </a:r>
          </a:p>
        </p:txBody>
      </p:sp>
      <p:sp>
        <p:nvSpPr>
          <p:cNvPr id="12" name="Rounded Rectangle 11"/>
          <p:cNvSpPr/>
          <p:nvPr/>
        </p:nvSpPr>
        <p:spPr>
          <a:xfrm>
            <a:off x="6172200" y="1783080"/>
            <a:ext cx="5349240" cy="4069080"/>
          </a:xfrm>
          <a:prstGeom prst="roundRect">
            <a:avLst>
              <a:gd name="adj" fmla="val 8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8" y="2011680"/>
            <a:ext cx="4846320" cy="457200"/>
          </a:xfrm>
          <a:prstGeom prst="rect">
            <a:avLst/>
          </a:prstGeom>
          <a:noFill/>
        </p:spPr>
        <p:txBody>
          <a:bodyPr wrap="square" lIns="18288" rIns="18288" tIns="0" bIns="0">
            <a:spAutoFit/>
          </a:bodyPr>
          <a:lstStyle/>
          <a:p>
            <a:pPr>
              <a:spcAft>
                <a:spcPts val="500"/>
              </a:spcAft>
              <a:defRPr sz="2300" b="1">
                <a:solidFill>
                  <a:srgbClr val="132B43"/>
                </a:solidFill>
                <a:latin typeface="DejaVu Sans"/>
              </a:defRPr>
            </a:pPr>
            <a:r>
              <a:t>Why an inertial interface?</a:t>
            </a:r>
          </a:p>
        </p:txBody>
      </p:sp>
      <p:sp>
        <p:nvSpPr>
          <p:cNvPr id="14" name="TextBox 13"/>
          <p:cNvSpPr txBox="1"/>
          <p:nvPr/>
        </p:nvSpPr>
        <p:spPr>
          <a:xfrm>
            <a:off x="6419088" y="2761488"/>
            <a:ext cx="4754880" cy="2560320"/>
          </a:xfrm>
          <a:prstGeom prst="rect">
            <a:avLst/>
          </a:prstGeom>
          <a:noFill/>
        </p:spPr>
        <p:txBody>
          <a:bodyPr wrap="square" lIns="18288" rIns="18288" tIns="0" bIns="0">
            <a:spAutoFit/>
          </a:bodyPr>
          <a:lstStyle/>
          <a:p>
            <a:pPr>
              <a:spcAft>
                <a:spcPts val="500"/>
              </a:spcAft>
              <a:defRPr sz="2100" b="0">
                <a:solidFill>
                  <a:srgbClr val="203448"/>
                </a:solidFill>
                <a:latin typeface="DejaVu Sans"/>
              </a:defRPr>
            </a:pPr>
            <a:r>
              <a:t>• Acceleration + angular velocity</a:t>
            </a:r>
          </a:p>
          <a:p>
            <a:pPr>
              <a:spcAft>
                <a:spcPts val="500"/>
              </a:spcAft>
              <a:defRPr sz="2100" b="0">
                <a:solidFill>
                  <a:srgbClr val="203448"/>
                </a:solidFill>
                <a:latin typeface="DejaVu Sans"/>
              </a:defRPr>
            </a:pPr>
            <a:r>
              <a:t>• Local temporal recognition</a:t>
            </a:r>
          </a:p>
          <a:p>
            <a:pPr>
              <a:spcAft>
                <a:spcPts val="500"/>
              </a:spcAft>
              <a:defRPr sz="2100" b="0">
                <a:solidFill>
                  <a:srgbClr val="203448"/>
                </a:solidFill>
                <a:latin typeface="DejaVu Sans"/>
              </a:defRPr>
            </a:pPr>
            <a:r>
              <a:t>• No camera or internet dependency</a:t>
            </a:r>
          </a:p>
          <a:p>
            <a:pPr>
              <a:spcAft>
                <a:spcPts val="500"/>
              </a:spcAft>
              <a:defRPr sz="2100" b="0">
                <a:solidFill>
                  <a:srgbClr val="203448"/>
                </a:solidFill>
                <a:latin typeface="DejaVu Sans"/>
              </a:defRPr>
            </a:pPr>
            <a:r>
              <a:t>• Background and uncertain inputs need rejection</a:t>
            </a:r>
          </a:p>
        </p:txBody>
      </p:sp>
      <p:sp>
        <p:nvSpPr>
          <p:cNvPr id="15" name="TextBox 14"/>
          <p:cNvSpPr txBox="1"/>
          <p:nvPr/>
        </p:nvSpPr>
        <p:spPr>
          <a:xfrm>
            <a:off x="658368" y="5669280"/>
            <a:ext cx="5303520" cy="411480"/>
          </a:xfrm>
          <a:prstGeom prst="rect">
            <a:avLst/>
          </a:prstGeom>
          <a:noFill/>
        </p:spPr>
        <p:txBody>
          <a:bodyPr wrap="square" lIns="18288" rIns="18288" tIns="0" bIns="0">
            <a:spAutoFit/>
          </a:bodyPr>
          <a:lstStyle/>
          <a:p>
            <a:pPr>
              <a:spcAft>
                <a:spcPts val="500"/>
              </a:spcAft>
              <a:defRPr sz="1500" b="1">
                <a:solidFill>
                  <a:srgbClr val="087F8C"/>
                </a:solidFill>
                <a:latin typeface="DejaVu Sans"/>
              </a:defRPr>
            </a:pPr>
            <a:r>
              <a:t>Accessibility benefit requires future user evaluation.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square" lIns="18288" rIns="18288" tIns="0" bIns="0">
            <a:spAutoFit/>
          </a:bodyPr>
          <a:lstStyle/>
          <a:p>
            <a:pPr>
              <a:spcAft>
                <a:spcPts val="500"/>
              </a:spcAft>
              <a:defRPr sz="1200" b="1">
                <a:solidFill>
                  <a:srgbClr val="087F8C"/>
                </a:solidFill>
                <a:latin typeface="DejaVu Sans"/>
              </a:defRPr>
            </a:pPr>
            <a:r>
              <a:t>ICT 3132 · SUBMISSION 2</a:t>
            </a:r>
          </a:p>
        </p:txBody>
      </p:sp>
      <p:sp>
        <p:nvSpPr>
          <p:cNvPr id="4" name="TextBox 3"/>
          <p:cNvSpPr txBox="1"/>
          <p:nvPr/>
        </p:nvSpPr>
        <p:spPr>
          <a:xfrm>
            <a:off x="594360" y="822960"/>
            <a:ext cx="10972800" cy="960120"/>
          </a:xfrm>
          <a:prstGeom prst="rect">
            <a:avLst/>
          </a:prstGeom>
          <a:noFill/>
        </p:spPr>
        <p:txBody>
          <a:bodyPr wrap="square" lIns="18288" rIns="18288" tIns="0" bIns="0">
            <a:spAutoFit/>
          </a:bodyPr>
          <a:lstStyle/>
          <a:p>
            <a:pPr>
              <a:spcAft>
                <a:spcPts val="500"/>
              </a:spcAft>
              <a:defRPr sz="3000" b="1">
                <a:solidFill>
                  <a:srgbClr val="132B43"/>
                </a:solidFill>
                <a:latin typeface="DejaVu Sans"/>
              </a:defRPr>
            </a:pPr>
            <a:r>
              <a:t>Literature gap and objectives</a:t>
            </a:r>
          </a:p>
        </p:txBody>
      </p:sp>
      <p:sp>
        <p:nvSpPr>
          <p:cNvPr id="5" name="Rectangle 4"/>
          <p:cNvSpPr/>
          <p:nvPr/>
        </p:nvSpPr>
        <p:spPr>
          <a:xfrm>
            <a:off x="594360" y="6373368"/>
            <a:ext cx="10972800" cy="10972"/>
          </a:xfrm>
          <a:prstGeom prst="rect">
            <a:avLst/>
          </a:prstGeom>
          <a:solidFill>
            <a:srgbClr val="D7D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73952"/>
            <a:ext cx="10241280" cy="210312"/>
          </a:xfrm>
          <a:prstGeom prst="rect">
            <a:avLst/>
          </a:prstGeom>
          <a:noFill/>
        </p:spPr>
        <p:txBody>
          <a:bodyPr wrap="square" lIns="18288" rIns="18288" tIns="0" bIns="0">
            <a:spAutoFit/>
          </a:bodyPr>
          <a:lstStyle/>
          <a:p>
            <a:pPr>
              <a:spcAft>
                <a:spcPts val="500"/>
              </a:spcAft>
              <a:defRPr sz="1000" b="0">
                <a:solidFill>
                  <a:srgbClr val="536577"/>
                </a:solidFill>
                <a:latin typeface="DejaVu Sans"/>
              </a:defRPr>
            </a:pPr>
            <a:r>
              <a:t>MIT Manipal · V Semester B.Tech. IT · Synthetic software evidence only</a:t>
            </a:r>
          </a:p>
        </p:txBody>
      </p:sp>
      <p:sp>
        <p:nvSpPr>
          <p:cNvPr id="7" name="TextBox 6"/>
          <p:cNvSpPr txBox="1"/>
          <p:nvPr/>
        </p:nvSpPr>
        <p:spPr>
          <a:xfrm>
            <a:off x="11064240" y="6437376"/>
            <a:ext cx="457200" cy="274320"/>
          </a:xfrm>
          <a:prstGeom prst="rect">
            <a:avLst/>
          </a:prstGeom>
          <a:noFill/>
        </p:spPr>
        <p:txBody>
          <a:bodyPr wrap="square" lIns="18288" rIns="18288" tIns="0" bIns="0">
            <a:spAutoFit/>
          </a:bodyPr>
          <a:lstStyle/>
          <a:p>
            <a:pPr algn="r">
              <a:spcAft>
                <a:spcPts val="500"/>
              </a:spcAft>
              <a:defRPr sz="1100" b="0">
                <a:solidFill>
                  <a:srgbClr val="536577"/>
                </a:solidFill>
                <a:latin typeface="DejaVu Sans"/>
              </a:defRPr>
            </a:pPr>
            <a:r>
              <a:t>3</a:t>
            </a:r>
          </a:p>
        </p:txBody>
      </p:sp>
      <p:sp>
        <p:nvSpPr>
          <p:cNvPr id="8" name="Rounded Rectangle 7"/>
          <p:cNvSpPr/>
          <p:nvPr/>
        </p:nvSpPr>
        <p:spPr>
          <a:xfrm>
            <a:off x="640080" y="1810512"/>
            <a:ext cx="5486400" cy="3611880"/>
          </a:xfrm>
          <a:prstGeom prst="roundRect">
            <a:avLst>
              <a:gd name="adj" fmla="val 8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1993392"/>
            <a:ext cx="5029200" cy="365760"/>
          </a:xfrm>
          <a:prstGeom prst="rect">
            <a:avLst/>
          </a:prstGeom>
          <a:noFill/>
        </p:spPr>
        <p:txBody>
          <a:bodyPr wrap="square" lIns="18288" rIns="18288" tIns="0" bIns="0">
            <a:spAutoFit/>
          </a:bodyPr>
          <a:lstStyle/>
          <a:p>
            <a:pPr>
              <a:spcAft>
                <a:spcPts val="500"/>
              </a:spcAft>
              <a:defRPr sz="2100" b="1">
                <a:solidFill>
                  <a:srgbClr val="203448"/>
                </a:solidFill>
                <a:latin typeface="DejaVu Sans"/>
              </a:defRPr>
            </a:pPr>
            <a:r>
              <a:t>What the recent literature supports</a:t>
            </a:r>
          </a:p>
        </p:txBody>
      </p:sp>
      <p:sp>
        <p:nvSpPr>
          <p:cNvPr id="10" name="TextBox 9"/>
          <p:cNvSpPr txBox="1"/>
          <p:nvPr/>
        </p:nvSpPr>
        <p:spPr>
          <a:xfrm>
            <a:off x="850392" y="2633472"/>
            <a:ext cx="5029200" cy="2468880"/>
          </a:xfrm>
          <a:prstGeom prst="rect">
            <a:avLst/>
          </a:prstGeom>
          <a:noFill/>
        </p:spPr>
        <p:txBody>
          <a:bodyPr wrap="square" lIns="18288" rIns="18288" tIns="0" bIns="0">
            <a:spAutoFit/>
          </a:bodyPr>
          <a:lstStyle/>
          <a:p>
            <a:pPr>
              <a:spcAft>
                <a:spcPts val="500"/>
              </a:spcAft>
              <a:defRPr sz="1900" b="0">
                <a:solidFill>
                  <a:srgbClr val="203448"/>
                </a:solidFill>
                <a:latin typeface="DejaVu Sans"/>
              </a:defRPr>
            </a:pPr>
            <a:r>
              <a:t>Wearable models: preserve time and channel structure.</a:t>
            </a:r>
          </a:p>
          <a:p>
            <a:pPr>
              <a:spcAft>
                <a:spcPts val="500"/>
              </a:spcAft>
              <a:defRPr sz="1900" b="0">
                <a:solidFill>
                  <a:srgbClr val="203448"/>
                </a:solidFill>
                <a:latin typeface="DejaVu Sans"/>
              </a:defRPr>
            </a:pPr>
            <a:r>
              <a:t>Embedded ML: budget activations and kernels, not only weights.</a:t>
            </a:r>
          </a:p>
          <a:p>
            <a:pPr>
              <a:spcAft>
                <a:spcPts val="500"/>
              </a:spcAft>
              <a:defRPr sz="1900" b="0">
                <a:solidFill>
                  <a:srgbClr val="203448"/>
                </a:solidFill>
                <a:latin typeface="DejaVu Sans"/>
              </a:defRPr>
            </a:pPr>
            <a:r>
              <a:t>Benchmarking: separate quality, latency, memory, and energy.</a:t>
            </a:r>
          </a:p>
        </p:txBody>
      </p:sp>
      <p:sp>
        <p:nvSpPr>
          <p:cNvPr id="11" name="TextBox 10"/>
          <p:cNvSpPr txBox="1"/>
          <p:nvPr/>
        </p:nvSpPr>
        <p:spPr>
          <a:xfrm>
            <a:off x="6419088" y="1965960"/>
            <a:ext cx="5029200" cy="411480"/>
          </a:xfrm>
          <a:prstGeom prst="rect">
            <a:avLst/>
          </a:prstGeom>
          <a:noFill/>
        </p:spPr>
        <p:txBody>
          <a:bodyPr wrap="square" lIns="18288" rIns="18288" tIns="0" bIns="0">
            <a:spAutoFit/>
          </a:bodyPr>
          <a:lstStyle/>
          <a:p>
            <a:pPr>
              <a:spcAft>
                <a:spcPts val="500"/>
              </a:spcAft>
              <a:defRPr sz="2200" b="1">
                <a:solidFill>
                  <a:srgbClr val="132B43"/>
                </a:solidFill>
                <a:latin typeface="DejaVu Sans"/>
              </a:defRPr>
            </a:pPr>
            <a:r>
              <a:t>Our application-specific gap</a:t>
            </a:r>
          </a:p>
        </p:txBody>
      </p:sp>
      <p:sp>
        <p:nvSpPr>
          <p:cNvPr id="12" name="TextBox 11"/>
          <p:cNvSpPr txBox="1"/>
          <p:nvPr/>
        </p:nvSpPr>
        <p:spPr>
          <a:xfrm>
            <a:off x="6419088" y="2633472"/>
            <a:ext cx="4983480" cy="1097280"/>
          </a:xfrm>
          <a:prstGeom prst="rect">
            <a:avLst/>
          </a:prstGeom>
          <a:noFill/>
        </p:spPr>
        <p:txBody>
          <a:bodyPr wrap="square" lIns="18288" rIns="18288" tIns="0" bIns="0">
            <a:spAutoFit/>
          </a:bodyPr>
          <a:lstStyle/>
          <a:p>
            <a:pPr>
              <a:spcAft>
                <a:spcPts val="500"/>
              </a:spcAft>
              <a:defRPr sz="2200" b="0">
                <a:solidFill>
                  <a:srgbClr val="203448"/>
                </a:solidFill>
                <a:latin typeface="DejaVu Sans"/>
              </a:defRPr>
            </a:pPr>
            <a:r>
              <a:t>An inspectable six-channel → GRU → reject → command pipeline, with reproducible evidence.</a:t>
            </a:r>
          </a:p>
        </p:txBody>
      </p:sp>
      <p:sp>
        <p:nvSpPr>
          <p:cNvPr id="13" name="TextBox 12"/>
          <p:cNvSpPr txBox="1"/>
          <p:nvPr/>
        </p:nvSpPr>
        <p:spPr>
          <a:xfrm>
            <a:off x="6419088" y="3931920"/>
            <a:ext cx="4937760" cy="1554480"/>
          </a:xfrm>
          <a:prstGeom prst="rect">
            <a:avLst/>
          </a:prstGeom>
          <a:noFill/>
        </p:spPr>
        <p:txBody>
          <a:bodyPr wrap="square" lIns="18288" rIns="18288" tIns="0" bIns="0">
            <a:spAutoFit/>
          </a:bodyPr>
          <a:lstStyle/>
          <a:p>
            <a:pPr>
              <a:spcAft>
                <a:spcPts val="500"/>
              </a:spcAft>
              <a:defRPr sz="1800" b="0">
                <a:solidFill>
                  <a:srgbClr val="203448"/>
                </a:solidFill>
                <a:latin typeface="DejaVu Sans"/>
              </a:defRPr>
            </a:pPr>
            <a:r>
              <a:t>1  Keep recordings separate across splits</a:t>
            </a:r>
          </a:p>
          <a:p>
            <a:pPr>
              <a:spcAft>
                <a:spcPts val="500"/>
              </a:spcAft>
              <a:defRPr sz="1800" b="0">
                <a:solidFill>
                  <a:srgbClr val="203448"/>
                </a:solidFill>
                <a:latin typeface="DejaVu Sans"/>
              </a:defRPr>
            </a:pPr>
            <a:r>
              <a:t>2  Verify preprocessing and prediction</a:t>
            </a:r>
          </a:p>
          <a:p>
            <a:pPr>
              <a:spcAft>
                <a:spcPts val="500"/>
              </a:spcAft>
              <a:defRPr sz="1800" b="0">
                <a:solidFill>
                  <a:srgbClr val="203448"/>
                </a:solidFill>
                <a:latin typeface="DejaVu Sans"/>
              </a:defRPr>
            </a:pPr>
            <a:r>
              <a:t>3  Expose NO_COMMAND</a:t>
            </a:r>
          </a:p>
          <a:p>
            <a:pPr>
              <a:spcAft>
                <a:spcPts val="500"/>
              </a:spcAft>
              <a:defRPr sz="1800" b="0">
                <a:solidFill>
                  <a:srgbClr val="203448"/>
                </a:solidFill>
                <a:latin typeface="DejaVu Sans"/>
              </a:defRPr>
            </a:pPr>
            <a:r>
              <a:t>4  Bound embedded performance claims</a:t>
            </a:r>
          </a:p>
        </p:txBody>
      </p:sp>
      <p:sp>
        <p:nvSpPr>
          <p:cNvPr id="14" name="TextBox 13"/>
          <p:cNvSpPr txBox="1"/>
          <p:nvPr/>
        </p:nvSpPr>
        <p:spPr>
          <a:xfrm>
            <a:off x="667512" y="5687568"/>
            <a:ext cx="10789920" cy="457200"/>
          </a:xfrm>
          <a:prstGeom prst="rect">
            <a:avLst/>
          </a:prstGeom>
          <a:noFill/>
        </p:spPr>
        <p:txBody>
          <a:bodyPr wrap="square" lIns="18288" rIns="18288" tIns="0" bIns="0">
            <a:spAutoFit/>
          </a:bodyPr>
          <a:lstStyle/>
          <a:p>
            <a:pPr>
              <a:spcAft>
                <a:spcPts val="500"/>
              </a:spcAft>
              <a:defRPr sz="1500" b="1">
                <a:solidFill>
                  <a:srgbClr val="087F8C"/>
                </a:solidFill>
                <a:latin typeface="DejaVu Sans"/>
              </a:defRPr>
            </a:pPr>
            <a:r>
              <a:t>10 papers (2020–2022) reviewed; Scopus coverage remains unverified. No new algorithm is claimed.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square" lIns="18288" rIns="18288" tIns="0" bIns="0">
            <a:spAutoFit/>
          </a:bodyPr>
          <a:lstStyle/>
          <a:p>
            <a:pPr>
              <a:spcAft>
                <a:spcPts val="500"/>
              </a:spcAft>
              <a:defRPr sz="1200" b="1">
                <a:solidFill>
                  <a:srgbClr val="087F8C"/>
                </a:solidFill>
                <a:latin typeface="DejaVu Sans"/>
              </a:defRPr>
            </a:pPr>
            <a:r>
              <a:t>ICT 3132 · SUBMISSION 2</a:t>
            </a:r>
          </a:p>
        </p:txBody>
      </p:sp>
      <p:sp>
        <p:nvSpPr>
          <p:cNvPr id="4" name="TextBox 3"/>
          <p:cNvSpPr txBox="1"/>
          <p:nvPr/>
        </p:nvSpPr>
        <p:spPr>
          <a:xfrm>
            <a:off x="594360" y="822960"/>
            <a:ext cx="10972800" cy="960120"/>
          </a:xfrm>
          <a:prstGeom prst="rect">
            <a:avLst/>
          </a:prstGeom>
          <a:noFill/>
        </p:spPr>
        <p:txBody>
          <a:bodyPr wrap="square" lIns="18288" rIns="18288" tIns="0" bIns="0">
            <a:spAutoFit/>
          </a:bodyPr>
          <a:lstStyle/>
          <a:p>
            <a:pPr>
              <a:spcAft>
                <a:spcPts val="500"/>
              </a:spcAft>
              <a:defRPr sz="3000" b="1">
                <a:solidFill>
                  <a:srgbClr val="132B43"/>
                </a:solidFill>
                <a:latin typeface="DejaVu Sans"/>
              </a:defRPr>
            </a:pPr>
            <a:r>
              <a:t>Sensor-to-command architecture</a:t>
            </a:r>
          </a:p>
        </p:txBody>
      </p:sp>
      <p:sp>
        <p:nvSpPr>
          <p:cNvPr id="5" name="Rectangle 4"/>
          <p:cNvSpPr/>
          <p:nvPr/>
        </p:nvSpPr>
        <p:spPr>
          <a:xfrm>
            <a:off x="594360" y="6373368"/>
            <a:ext cx="10972800" cy="10972"/>
          </a:xfrm>
          <a:prstGeom prst="rect">
            <a:avLst/>
          </a:prstGeom>
          <a:solidFill>
            <a:srgbClr val="D7D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73952"/>
            <a:ext cx="10241280" cy="210312"/>
          </a:xfrm>
          <a:prstGeom prst="rect">
            <a:avLst/>
          </a:prstGeom>
          <a:noFill/>
        </p:spPr>
        <p:txBody>
          <a:bodyPr wrap="square" lIns="18288" rIns="18288" tIns="0" bIns="0">
            <a:spAutoFit/>
          </a:bodyPr>
          <a:lstStyle/>
          <a:p>
            <a:pPr>
              <a:spcAft>
                <a:spcPts val="500"/>
              </a:spcAft>
              <a:defRPr sz="1000" b="0">
                <a:solidFill>
                  <a:srgbClr val="536577"/>
                </a:solidFill>
                <a:latin typeface="DejaVu Sans"/>
              </a:defRPr>
            </a:pPr>
            <a:r>
              <a:t>MIT Manipal · V Semester B.Tech. IT · Synthetic software evidence only</a:t>
            </a:r>
          </a:p>
        </p:txBody>
      </p:sp>
      <p:sp>
        <p:nvSpPr>
          <p:cNvPr id="7" name="TextBox 6"/>
          <p:cNvSpPr txBox="1"/>
          <p:nvPr/>
        </p:nvSpPr>
        <p:spPr>
          <a:xfrm>
            <a:off x="11064240" y="6437376"/>
            <a:ext cx="457200" cy="274320"/>
          </a:xfrm>
          <a:prstGeom prst="rect">
            <a:avLst/>
          </a:prstGeom>
          <a:noFill/>
        </p:spPr>
        <p:txBody>
          <a:bodyPr wrap="square" lIns="18288" rIns="18288" tIns="0" bIns="0">
            <a:spAutoFit/>
          </a:bodyPr>
          <a:lstStyle/>
          <a:p>
            <a:pPr algn="r">
              <a:spcAft>
                <a:spcPts val="500"/>
              </a:spcAft>
              <a:defRPr sz="1100" b="0">
                <a:solidFill>
                  <a:srgbClr val="536577"/>
                </a:solidFill>
                <a:latin typeface="DejaVu Sans"/>
              </a:defRPr>
            </a:pPr>
            <a:r>
              <a:t>4</a:t>
            </a:r>
          </a:p>
        </p:txBody>
      </p:sp>
      <p:sp>
        <p:nvSpPr>
          <p:cNvPr id="8" name="Rounded Rectangle 7"/>
          <p:cNvSpPr/>
          <p:nvPr/>
        </p:nvSpPr>
        <p:spPr>
          <a:xfrm>
            <a:off x="640080" y="1965960"/>
            <a:ext cx="1700784" cy="1508760"/>
          </a:xfrm>
          <a:prstGeom prst="roundRect">
            <a:avLst>
              <a:gd name="adj" fmla="val 8000"/>
            </a:avLst>
          </a:prstGeom>
          <a:solidFill>
            <a:srgbClr val="F0F4F7"/>
          </a:solidFill>
          <a:ln>
            <a:solidFill>
              <a:srgbClr val="132B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19" y="2121408"/>
            <a:ext cx="1517904" cy="594360"/>
          </a:xfrm>
          <a:prstGeom prst="rect">
            <a:avLst/>
          </a:prstGeom>
          <a:noFill/>
        </p:spPr>
        <p:txBody>
          <a:bodyPr wrap="square" lIns="18288" rIns="18288" tIns="0" bIns="0">
            <a:spAutoFit/>
          </a:bodyPr>
          <a:lstStyle/>
          <a:p>
            <a:pPr algn="ctr">
              <a:spcAft>
                <a:spcPts val="500"/>
              </a:spcAft>
              <a:defRPr sz="1700" b="1">
                <a:solidFill>
                  <a:srgbClr val="132B43"/>
                </a:solidFill>
                <a:latin typeface="DejaVu Sans"/>
              </a:defRPr>
            </a:pPr>
            <a:r>
              <a:t>Synthetic input</a:t>
            </a:r>
          </a:p>
        </p:txBody>
      </p:sp>
      <p:sp>
        <p:nvSpPr>
          <p:cNvPr id="10" name="TextBox 9"/>
          <p:cNvSpPr txBox="1"/>
          <p:nvPr/>
        </p:nvSpPr>
        <p:spPr>
          <a:xfrm>
            <a:off x="731519" y="2788920"/>
            <a:ext cx="1517904" cy="594360"/>
          </a:xfrm>
          <a:prstGeom prst="rect">
            <a:avLst/>
          </a:prstGeom>
          <a:noFill/>
        </p:spPr>
        <p:txBody>
          <a:bodyPr wrap="square" lIns="18288" rIns="18288" tIns="0" bIns="0">
            <a:spAutoFit/>
          </a:bodyPr>
          <a:lstStyle/>
          <a:p>
            <a:pPr algn="ctr">
              <a:spcAft>
                <a:spcPts val="500"/>
              </a:spcAft>
              <a:defRPr sz="1300" b="0">
                <a:solidFill>
                  <a:srgbClr val="203448"/>
                </a:solidFill>
                <a:latin typeface="DejaVu Sans"/>
              </a:defRPr>
            </a:pPr>
            <a:r>
              <a:t>ax, ay, az</a:t>
            </a:r>
          </a:p>
          <a:p>
            <a:pPr algn="ctr">
              <a:spcAft>
                <a:spcPts val="500"/>
              </a:spcAft>
              <a:defRPr sz="1300" b="0">
                <a:solidFill>
                  <a:srgbClr val="203448"/>
                </a:solidFill>
                <a:latin typeface="DejaVu Sans"/>
              </a:defRPr>
            </a:pPr>
            <a:r>
              <a:t>gx, gy, gz</a:t>
            </a:r>
          </a:p>
        </p:txBody>
      </p:sp>
      <p:sp>
        <p:nvSpPr>
          <p:cNvPr id="11" name="Chevron 10"/>
          <p:cNvSpPr/>
          <p:nvPr/>
        </p:nvSpPr>
        <p:spPr>
          <a:xfrm>
            <a:off x="2377439" y="2587752"/>
            <a:ext cx="109728" cy="228600"/>
          </a:xfrm>
          <a:prstGeom prst="chevron">
            <a:avLst/>
          </a:prstGeom>
          <a:solidFill>
            <a:srgbClr val="132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514600" y="1965960"/>
            <a:ext cx="1700784" cy="1508760"/>
          </a:xfrm>
          <a:prstGeom prst="roundRect">
            <a:avLst>
              <a:gd name="adj" fmla="val 8000"/>
            </a:avLst>
          </a:prstGeom>
          <a:solidFill>
            <a:srgbClr val="F0F4F7"/>
          </a:solidFill>
          <a:ln>
            <a:solidFill>
              <a:srgbClr val="132B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2121408"/>
            <a:ext cx="1517904" cy="594360"/>
          </a:xfrm>
          <a:prstGeom prst="rect">
            <a:avLst/>
          </a:prstGeom>
          <a:noFill/>
        </p:spPr>
        <p:txBody>
          <a:bodyPr wrap="square" lIns="18288" rIns="18288" tIns="0" bIns="0">
            <a:spAutoFit/>
          </a:bodyPr>
          <a:lstStyle/>
          <a:p>
            <a:pPr algn="ctr">
              <a:spcAft>
                <a:spcPts val="500"/>
              </a:spcAft>
              <a:defRPr sz="1700" b="1">
                <a:solidFill>
                  <a:srgbClr val="132B43"/>
                </a:solidFill>
                <a:latin typeface="DejaVu Sans"/>
              </a:defRPr>
            </a:pPr>
            <a:r>
              <a:t>Signal filter</a:t>
            </a:r>
          </a:p>
        </p:txBody>
      </p:sp>
      <p:sp>
        <p:nvSpPr>
          <p:cNvPr id="14" name="TextBox 13"/>
          <p:cNvSpPr txBox="1"/>
          <p:nvPr/>
        </p:nvSpPr>
        <p:spPr>
          <a:xfrm>
            <a:off x="2606040" y="2788920"/>
            <a:ext cx="1517904" cy="594360"/>
          </a:xfrm>
          <a:prstGeom prst="rect">
            <a:avLst/>
          </a:prstGeom>
          <a:noFill/>
        </p:spPr>
        <p:txBody>
          <a:bodyPr wrap="square" lIns="18288" rIns="18288" tIns="0" bIns="0">
            <a:spAutoFit/>
          </a:bodyPr>
          <a:lstStyle/>
          <a:p>
            <a:pPr algn="ctr">
              <a:spcAft>
                <a:spcPts val="500"/>
              </a:spcAft>
              <a:defRPr sz="1300" b="0">
                <a:solidFill>
                  <a:srgbClr val="203448"/>
                </a:solidFill>
                <a:latin typeface="DejaVu Sans"/>
              </a:defRPr>
            </a:pPr>
            <a:r>
              <a:t>Causal smoothing</a:t>
            </a:r>
          </a:p>
          <a:p>
            <a:pPr algn="ctr">
              <a:spcAft>
                <a:spcPts val="500"/>
              </a:spcAft>
              <a:defRPr sz="1300" b="0">
                <a:solidFill>
                  <a:srgbClr val="203448"/>
                </a:solidFill>
                <a:latin typeface="DejaVu Sans"/>
              </a:defRPr>
            </a:pPr>
            <a:r>
              <a:t>Normalization</a:t>
            </a:r>
          </a:p>
        </p:txBody>
      </p:sp>
      <p:sp>
        <p:nvSpPr>
          <p:cNvPr id="15" name="Chevron 14"/>
          <p:cNvSpPr/>
          <p:nvPr/>
        </p:nvSpPr>
        <p:spPr>
          <a:xfrm>
            <a:off x="4251960" y="2587752"/>
            <a:ext cx="109728" cy="228600"/>
          </a:xfrm>
          <a:prstGeom prst="chevron">
            <a:avLst/>
          </a:prstGeom>
          <a:solidFill>
            <a:srgbClr val="132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89120" y="1965960"/>
            <a:ext cx="1700784" cy="1508760"/>
          </a:xfrm>
          <a:prstGeom prst="roundRect">
            <a:avLst>
              <a:gd name="adj" fmla="val 8000"/>
            </a:avLst>
          </a:prstGeom>
          <a:solidFill>
            <a:srgbClr val="F0F4F7"/>
          </a:solidFill>
          <a:ln>
            <a:solidFill>
              <a:srgbClr val="132B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59" y="2121408"/>
            <a:ext cx="1517904" cy="594360"/>
          </a:xfrm>
          <a:prstGeom prst="rect">
            <a:avLst/>
          </a:prstGeom>
          <a:noFill/>
        </p:spPr>
        <p:txBody>
          <a:bodyPr wrap="square" lIns="18288" rIns="18288" tIns="0" bIns="0">
            <a:spAutoFit/>
          </a:bodyPr>
          <a:lstStyle/>
          <a:p>
            <a:pPr algn="ctr">
              <a:spcAft>
                <a:spcPts val="500"/>
              </a:spcAft>
              <a:defRPr sz="1700" b="1">
                <a:solidFill>
                  <a:srgbClr val="132B43"/>
                </a:solidFill>
                <a:latin typeface="DejaVu Sans"/>
              </a:defRPr>
            </a:pPr>
            <a:r>
              <a:t>Window buffer</a:t>
            </a:r>
          </a:p>
        </p:txBody>
      </p:sp>
      <p:sp>
        <p:nvSpPr>
          <p:cNvPr id="18" name="TextBox 17"/>
          <p:cNvSpPr txBox="1"/>
          <p:nvPr/>
        </p:nvSpPr>
        <p:spPr>
          <a:xfrm>
            <a:off x="4480559" y="2788920"/>
            <a:ext cx="1517904" cy="594360"/>
          </a:xfrm>
          <a:prstGeom prst="rect">
            <a:avLst/>
          </a:prstGeom>
          <a:noFill/>
        </p:spPr>
        <p:txBody>
          <a:bodyPr wrap="square" lIns="18288" rIns="18288" tIns="0" bIns="0">
            <a:spAutoFit/>
          </a:bodyPr>
          <a:lstStyle/>
          <a:p>
            <a:pPr algn="ctr">
              <a:spcAft>
                <a:spcPts val="500"/>
              </a:spcAft>
              <a:defRPr sz="1300" b="0">
                <a:solidFill>
                  <a:srgbClr val="203448"/>
                </a:solidFill>
                <a:latin typeface="DejaVu Sans"/>
              </a:defRPr>
            </a:pPr>
            <a:r>
              <a:t>64 × 6 samples</a:t>
            </a:r>
          </a:p>
          <a:p>
            <a:pPr algn="ctr">
              <a:spcAft>
                <a:spcPts val="500"/>
              </a:spcAft>
              <a:defRPr sz="1300" b="0">
                <a:solidFill>
                  <a:srgbClr val="203448"/>
                </a:solidFill>
                <a:latin typeface="DejaVu Sans"/>
              </a:defRPr>
            </a:pPr>
            <a:r>
              <a:t>Stride 32</a:t>
            </a:r>
          </a:p>
        </p:txBody>
      </p:sp>
      <p:sp>
        <p:nvSpPr>
          <p:cNvPr id="19" name="Chevron 18"/>
          <p:cNvSpPr/>
          <p:nvPr/>
        </p:nvSpPr>
        <p:spPr>
          <a:xfrm>
            <a:off x="6126479" y="2587752"/>
            <a:ext cx="109728" cy="228600"/>
          </a:xfrm>
          <a:prstGeom prst="chevron">
            <a:avLst/>
          </a:prstGeom>
          <a:solidFill>
            <a:srgbClr val="132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63640" y="1965960"/>
            <a:ext cx="1700784" cy="1508760"/>
          </a:xfrm>
          <a:prstGeom prst="roundRect">
            <a:avLst>
              <a:gd name="adj" fmla="val 8000"/>
            </a:avLst>
          </a:prstGeom>
          <a:solidFill>
            <a:srgbClr val="F0F4F7"/>
          </a:solidFill>
          <a:ln>
            <a:solidFill>
              <a:srgbClr val="132B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79" y="2121408"/>
            <a:ext cx="1517904" cy="594360"/>
          </a:xfrm>
          <a:prstGeom prst="rect">
            <a:avLst/>
          </a:prstGeom>
          <a:noFill/>
        </p:spPr>
        <p:txBody>
          <a:bodyPr wrap="square" lIns="18288" rIns="18288" tIns="0" bIns="0">
            <a:spAutoFit/>
          </a:bodyPr>
          <a:lstStyle/>
          <a:p>
            <a:pPr algn="ctr">
              <a:spcAft>
                <a:spcPts val="500"/>
              </a:spcAft>
              <a:defRPr sz="1700" b="1">
                <a:solidFill>
                  <a:srgbClr val="132B43"/>
                </a:solidFill>
                <a:latin typeface="DejaVu Sans"/>
              </a:defRPr>
            </a:pPr>
            <a:r>
              <a:t>Compact GRU</a:t>
            </a:r>
          </a:p>
        </p:txBody>
      </p:sp>
      <p:sp>
        <p:nvSpPr>
          <p:cNvPr id="22" name="TextBox 21"/>
          <p:cNvSpPr txBox="1"/>
          <p:nvPr/>
        </p:nvSpPr>
        <p:spPr>
          <a:xfrm>
            <a:off x="6355079" y="2788920"/>
            <a:ext cx="1517904" cy="594360"/>
          </a:xfrm>
          <a:prstGeom prst="rect">
            <a:avLst/>
          </a:prstGeom>
          <a:noFill/>
        </p:spPr>
        <p:txBody>
          <a:bodyPr wrap="square" lIns="18288" rIns="18288" tIns="0" bIns="0">
            <a:spAutoFit/>
          </a:bodyPr>
          <a:lstStyle/>
          <a:p>
            <a:pPr algn="ctr">
              <a:spcAft>
                <a:spcPts val="500"/>
              </a:spcAft>
              <a:defRPr sz="1300" b="0">
                <a:solidFill>
                  <a:srgbClr val="203448"/>
                </a:solidFill>
                <a:latin typeface="DejaVu Sans"/>
              </a:defRPr>
            </a:pPr>
            <a:r>
              <a:t>16 hidden units</a:t>
            </a:r>
          </a:p>
          <a:p>
            <a:pPr algn="ctr">
              <a:spcAft>
                <a:spcPts val="500"/>
              </a:spcAft>
              <a:defRPr sz="1300" b="0">
                <a:solidFill>
                  <a:srgbClr val="203448"/>
                </a:solidFill>
                <a:latin typeface="DejaVu Sans"/>
              </a:defRPr>
            </a:pPr>
            <a:r>
              <a:t>4 output classes</a:t>
            </a:r>
          </a:p>
        </p:txBody>
      </p:sp>
      <p:sp>
        <p:nvSpPr>
          <p:cNvPr id="23" name="Chevron 22"/>
          <p:cNvSpPr/>
          <p:nvPr/>
        </p:nvSpPr>
        <p:spPr>
          <a:xfrm>
            <a:off x="8001000" y="2587752"/>
            <a:ext cx="109728" cy="228600"/>
          </a:xfrm>
          <a:prstGeom prst="chevron">
            <a:avLst/>
          </a:prstGeom>
          <a:solidFill>
            <a:srgbClr val="132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138159" y="1965960"/>
            <a:ext cx="1700784" cy="1508760"/>
          </a:xfrm>
          <a:prstGeom prst="roundRect">
            <a:avLst>
              <a:gd name="adj" fmla="val 8000"/>
            </a:avLst>
          </a:prstGeom>
          <a:solidFill>
            <a:srgbClr val="F0F4F7"/>
          </a:solidFill>
          <a:ln>
            <a:solidFill>
              <a:srgbClr val="132B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599" y="2121408"/>
            <a:ext cx="1517904" cy="594360"/>
          </a:xfrm>
          <a:prstGeom prst="rect">
            <a:avLst/>
          </a:prstGeom>
          <a:noFill/>
        </p:spPr>
        <p:txBody>
          <a:bodyPr wrap="square" lIns="18288" rIns="18288" tIns="0" bIns="0">
            <a:spAutoFit/>
          </a:bodyPr>
          <a:lstStyle/>
          <a:p>
            <a:pPr algn="ctr">
              <a:spcAft>
                <a:spcPts val="500"/>
              </a:spcAft>
              <a:defRPr sz="1700" b="1">
                <a:solidFill>
                  <a:srgbClr val="132B43"/>
                </a:solidFill>
                <a:latin typeface="DejaVu Sans"/>
              </a:defRPr>
            </a:pPr>
            <a:r>
              <a:t>Reject + map</a:t>
            </a:r>
          </a:p>
        </p:txBody>
      </p:sp>
      <p:sp>
        <p:nvSpPr>
          <p:cNvPr id="26" name="TextBox 25"/>
          <p:cNvSpPr txBox="1"/>
          <p:nvPr/>
        </p:nvSpPr>
        <p:spPr>
          <a:xfrm>
            <a:off x="8229599" y="2788920"/>
            <a:ext cx="1517904" cy="594360"/>
          </a:xfrm>
          <a:prstGeom prst="rect">
            <a:avLst/>
          </a:prstGeom>
          <a:noFill/>
        </p:spPr>
        <p:txBody>
          <a:bodyPr wrap="square" lIns="18288" rIns="18288" tIns="0" bIns="0">
            <a:spAutoFit/>
          </a:bodyPr>
          <a:lstStyle/>
          <a:p>
            <a:pPr algn="ctr">
              <a:spcAft>
                <a:spcPts val="500"/>
              </a:spcAft>
              <a:defRPr sz="1300" b="0">
                <a:solidFill>
                  <a:srgbClr val="203448"/>
                </a:solidFill>
                <a:latin typeface="DejaVu Sans"/>
              </a:defRPr>
            </a:pPr>
            <a:r>
              <a:t>Not background</a:t>
            </a:r>
          </a:p>
          <a:p>
            <a:pPr algn="ctr">
              <a:spcAft>
                <a:spcPts val="500"/>
              </a:spcAft>
              <a:defRPr sz="1300" b="0">
                <a:solidFill>
                  <a:srgbClr val="203448"/>
                </a:solidFill>
                <a:latin typeface="DejaVu Sans"/>
              </a:defRPr>
            </a:pPr>
            <a:r>
              <a:t>p ≥ 0.80</a:t>
            </a:r>
          </a:p>
        </p:txBody>
      </p:sp>
      <p:sp>
        <p:nvSpPr>
          <p:cNvPr id="27" name="Chevron 26"/>
          <p:cNvSpPr/>
          <p:nvPr/>
        </p:nvSpPr>
        <p:spPr>
          <a:xfrm>
            <a:off x="9875519" y="2587752"/>
            <a:ext cx="109728" cy="228600"/>
          </a:xfrm>
          <a:prstGeom prst="chevron">
            <a:avLst/>
          </a:prstGeom>
          <a:solidFill>
            <a:srgbClr val="132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012680" y="1965960"/>
            <a:ext cx="1700784" cy="1508760"/>
          </a:xfrm>
          <a:prstGeom prst="roundRect">
            <a:avLst>
              <a:gd name="adj" fmla="val 8000"/>
            </a:avLst>
          </a:prstGeom>
          <a:solidFill>
            <a:srgbClr val="F0F4F7"/>
          </a:solidFill>
          <a:ln>
            <a:solidFill>
              <a:srgbClr val="132B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104119" y="2121408"/>
            <a:ext cx="1517904" cy="594360"/>
          </a:xfrm>
          <a:prstGeom prst="rect">
            <a:avLst/>
          </a:prstGeom>
          <a:noFill/>
        </p:spPr>
        <p:txBody>
          <a:bodyPr wrap="square" lIns="18288" rIns="18288" tIns="0" bIns="0">
            <a:spAutoFit/>
          </a:bodyPr>
          <a:lstStyle/>
          <a:p>
            <a:pPr algn="ctr">
              <a:spcAft>
                <a:spcPts val="500"/>
              </a:spcAft>
              <a:defRPr sz="1700" b="1">
                <a:solidFill>
                  <a:srgbClr val="132B43"/>
                </a:solidFill>
                <a:latin typeface="DejaVu Sans"/>
              </a:defRPr>
            </a:pPr>
            <a:r>
              <a:t>Console output</a:t>
            </a:r>
          </a:p>
        </p:txBody>
      </p:sp>
      <p:sp>
        <p:nvSpPr>
          <p:cNvPr id="30" name="TextBox 29"/>
          <p:cNvSpPr txBox="1"/>
          <p:nvPr/>
        </p:nvSpPr>
        <p:spPr>
          <a:xfrm>
            <a:off x="10104119" y="2788920"/>
            <a:ext cx="1517904" cy="594360"/>
          </a:xfrm>
          <a:prstGeom prst="rect">
            <a:avLst/>
          </a:prstGeom>
          <a:noFill/>
        </p:spPr>
        <p:txBody>
          <a:bodyPr wrap="square" lIns="18288" rIns="18288" tIns="0" bIns="0">
            <a:spAutoFit/>
          </a:bodyPr>
          <a:lstStyle/>
          <a:p>
            <a:pPr algn="ctr">
              <a:spcAft>
                <a:spcPts val="500"/>
              </a:spcAft>
              <a:defRPr sz="1300" b="0">
                <a:solidFill>
                  <a:srgbClr val="203448"/>
                </a:solidFill>
                <a:latin typeface="DejaVu Sans"/>
              </a:defRPr>
            </a:pPr>
            <a:r>
              <a:t>LIGHT_ON / OFF</a:t>
            </a:r>
          </a:p>
          <a:p>
            <a:pPr algn="ctr">
              <a:spcAft>
                <a:spcPts val="500"/>
              </a:spcAft>
              <a:defRPr sz="1300" b="0">
                <a:solidFill>
                  <a:srgbClr val="203448"/>
                </a:solidFill>
                <a:latin typeface="DejaVu Sans"/>
              </a:defRPr>
            </a:pPr>
            <a:r>
              <a:t>FAN_TOGGLE</a:t>
            </a:r>
          </a:p>
        </p:txBody>
      </p:sp>
      <p:sp>
        <p:nvSpPr>
          <p:cNvPr id="31" name="Rounded Rectangle 30"/>
          <p:cNvSpPr/>
          <p:nvPr/>
        </p:nvSpPr>
        <p:spPr>
          <a:xfrm>
            <a:off x="640080" y="4041648"/>
            <a:ext cx="10927080" cy="1463040"/>
          </a:xfrm>
          <a:prstGeom prst="roundRect">
            <a:avLst>
              <a:gd name="adj" fmla="val 8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4224528"/>
            <a:ext cx="10332720" cy="365760"/>
          </a:xfrm>
          <a:prstGeom prst="rect">
            <a:avLst/>
          </a:prstGeom>
          <a:noFill/>
        </p:spPr>
        <p:txBody>
          <a:bodyPr wrap="square" lIns="18288" rIns="18288" tIns="0" bIns="0">
            <a:spAutoFit/>
          </a:bodyPr>
          <a:lstStyle/>
          <a:p>
            <a:pPr>
              <a:spcAft>
                <a:spcPts val="500"/>
              </a:spcAft>
              <a:defRPr sz="2100" b="1">
                <a:solidFill>
                  <a:srgbClr val="087F8C"/>
                </a:solidFill>
                <a:latin typeface="DejaVu Sans"/>
              </a:defRPr>
            </a:pPr>
            <a:r>
              <a:t>Future physical path — not implemented</a:t>
            </a:r>
          </a:p>
        </p:txBody>
      </p:sp>
      <p:sp>
        <p:nvSpPr>
          <p:cNvPr id="33" name="TextBox 32"/>
          <p:cNvSpPr txBox="1"/>
          <p:nvPr/>
        </p:nvSpPr>
        <p:spPr>
          <a:xfrm>
            <a:off x="896112" y="4764024"/>
            <a:ext cx="10149840" cy="530352"/>
          </a:xfrm>
          <a:prstGeom prst="rect">
            <a:avLst/>
          </a:prstGeom>
          <a:noFill/>
        </p:spPr>
        <p:txBody>
          <a:bodyPr wrap="square" lIns="18288" rIns="18288" tIns="0" bIns="0">
            <a:spAutoFit/>
          </a:bodyPr>
          <a:lstStyle/>
          <a:p>
            <a:pPr>
              <a:spcAft>
                <a:spcPts val="500"/>
              </a:spcAft>
              <a:defRPr sz="1900" b="0">
                <a:solidFill>
                  <a:srgbClr val="203448"/>
                </a:solidFill>
                <a:latin typeface="DejaVu Sans"/>
              </a:defRPr>
            </a:pPr>
            <a:r>
              <a:t>IMU + MCU sampling → supported inference runtime → optional BLE / Wi-Fi receiver → appliance</a:t>
            </a:r>
          </a:p>
        </p:txBody>
      </p:sp>
      <p:sp>
        <p:nvSpPr>
          <p:cNvPr id="34" name="TextBox 33"/>
          <p:cNvSpPr txBox="1"/>
          <p:nvPr/>
        </p:nvSpPr>
        <p:spPr>
          <a:xfrm>
            <a:off x="667512" y="5797296"/>
            <a:ext cx="10789920" cy="320040"/>
          </a:xfrm>
          <a:prstGeom prst="rect">
            <a:avLst/>
          </a:prstGeom>
          <a:noFill/>
        </p:spPr>
        <p:txBody>
          <a:bodyPr wrap="square" lIns="18288" rIns="18288" tIns="0" bIns="0">
            <a:spAutoFit/>
          </a:bodyPr>
          <a:lstStyle/>
          <a:p>
            <a:pPr>
              <a:spcAft>
                <a:spcPts val="500"/>
              </a:spcAft>
              <a:defRPr sz="1600" b="0">
                <a:solidFill>
                  <a:srgbClr val="536577"/>
                </a:solidFill>
                <a:latin typeface="DejaVu Sans"/>
              </a:defRPr>
            </a:pPr>
            <a:r>
              <a:t>No MCU, board, radio, receiver, or appliance is needed for the current software.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square" lIns="18288" rIns="18288" tIns="0" bIns="0">
            <a:spAutoFit/>
          </a:bodyPr>
          <a:lstStyle/>
          <a:p>
            <a:pPr>
              <a:spcAft>
                <a:spcPts val="500"/>
              </a:spcAft>
              <a:defRPr sz="1200" b="1">
                <a:solidFill>
                  <a:srgbClr val="087F8C"/>
                </a:solidFill>
                <a:latin typeface="DejaVu Sans"/>
              </a:defRPr>
            </a:pPr>
            <a:r>
              <a:t>ICT 3132 · SUBMISSION 2</a:t>
            </a:r>
          </a:p>
        </p:txBody>
      </p:sp>
      <p:sp>
        <p:nvSpPr>
          <p:cNvPr id="4" name="TextBox 3"/>
          <p:cNvSpPr txBox="1"/>
          <p:nvPr/>
        </p:nvSpPr>
        <p:spPr>
          <a:xfrm>
            <a:off x="594360" y="822960"/>
            <a:ext cx="10972800" cy="960120"/>
          </a:xfrm>
          <a:prstGeom prst="rect">
            <a:avLst/>
          </a:prstGeom>
          <a:noFill/>
        </p:spPr>
        <p:txBody>
          <a:bodyPr wrap="square" lIns="18288" rIns="18288" tIns="0" bIns="0">
            <a:spAutoFit/>
          </a:bodyPr>
          <a:lstStyle/>
          <a:p>
            <a:pPr>
              <a:spcAft>
                <a:spcPts val="500"/>
              </a:spcAft>
              <a:defRPr sz="3000" b="1">
                <a:solidFill>
                  <a:srgbClr val="132B43"/>
                </a:solidFill>
                <a:latin typeface="DejaVu Sans"/>
              </a:defRPr>
            </a:pPr>
            <a:r>
              <a:t>Methodology and model choice</a:t>
            </a:r>
          </a:p>
        </p:txBody>
      </p:sp>
      <p:sp>
        <p:nvSpPr>
          <p:cNvPr id="5" name="Rectangle 4"/>
          <p:cNvSpPr/>
          <p:nvPr/>
        </p:nvSpPr>
        <p:spPr>
          <a:xfrm>
            <a:off x="594360" y="6373368"/>
            <a:ext cx="10972800" cy="10972"/>
          </a:xfrm>
          <a:prstGeom prst="rect">
            <a:avLst/>
          </a:prstGeom>
          <a:solidFill>
            <a:srgbClr val="D7D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73952"/>
            <a:ext cx="10241280" cy="210312"/>
          </a:xfrm>
          <a:prstGeom prst="rect">
            <a:avLst/>
          </a:prstGeom>
          <a:noFill/>
        </p:spPr>
        <p:txBody>
          <a:bodyPr wrap="square" lIns="18288" rIns="18288" tIns="0" bIns="0">
            <a:spAutoFit/>
          </a:bodyPr>
          <a:lstStyle/>
          <a:p>
            <a:pPr>
              <a:spcAft>
                <a:spcPts val="500"/>
              </a:spcAft>
              <a:defRPr sz="1000" b="0">
                <a:solidFill>
                  <a:srgbClr val="536577"/>
                </a:solidFill>
                <a:latin typeface="DejaVu Sans"/>
              </a:defRPr>
            </a:pPr>
            <a:r>
              <a:t>MIT Manipal · V Semester B.Tech. IT · Synthetic software evidence only</a:t>
            </a:r>
          </a:p>
        </p:txBody>
      </p:sp>
      <p:sp>
        <p:nvSpPr>
          <p:cNvPr id="7" name="TextBox 6"/>
          <p:cNvSpPr txBox="1"/>
          <p:nvPr/>
        </p:nvSpPr>
        <p:spPr>
          <a:xfrm>
            <a:off x="11064240" y="6437376"/>
            <a:ext cx="457200" cy="274320"/>
          </a:xfrm>
          <a:prstGeom prst="rect">
            <a:avLst/>
          </a:prstGeom>
          <a:noFill/>
        </p:spPr>
        <p:txBody>
          <a:bodyPr wrap="square" lIns="18288" rIns="18288" tIns="0" bIns="0">
            <a:spAutoFit/>
          </a:bodyPr>
          <a:lstStyle/>
          <a:p>
            <a:pPr algn="r">
              <a:spcAft>
                <a:spcPts val="500"/>
              </a:spcAft>
              <a:defRPr sz="1100" b="0">
                <a:solidFill>
                  <a:srgbClr val="536577"/>
                </a:solidFill>
                <a:latin typeface="DejaVu Sans"/>
              </a:defRPr>
            </a:pPr>
            <a:r>
              <a:t>5</a:t>
            </a:r>
          </a:p>
        </p:txBody>
      </p:sp>
      <p:sp>
        <p:nvSpPr>
          <p:cNvPr id="8" name="Rounded Rectangle 7"/>
          <p:cNvSpPr/>
          <p:nvPr/>
        </p:nvSpPr>
        <p:spPr>
          <a:xfrm>
            <a:off x="658368" y="1810512"/>
            <a:ext cx="3474720" cy="1097280"/>
          </a:xfrm>
          <a:prstGeom prst="roundRect">
            <a:avLst>
              <a:gd name="adj" fmla="val 8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965960"/>
            <a:ext cx="3200400" cy="365760"/>
          </a:xfrm>
          <a:prstGeom prst="rect">
            <a:avLst/>
          </a:prstGeom>
          <a:noFill/>
        </p:spPr>
        <p:txBody>
          <a:bodyPr wrap="square" lIns="18288" rIns="18288" tIns="0" bIns="0">
            <a:spAutoFit/>
          </a:bodyPr>
          <a:lstStyle/>
          <a:p>
            <a:pPr algn="ctr">
              <a:spcAft>
                <a:spcPts val="500"/>
              </a:spcAft>
              <a:defRPr sz="2400" b="1">
                <a:solidFill>
                  <a:srgbClr val="132B43"/>
                </a:solidFill>
                <a:latin typeface="DejaVu Sans"/>
              </a:defRPr>
            </a:pPr>
            <a:r>
              <a:t>96 recordings</a:t>
            </a:r>
          </a:p>
        </p:txBody>
      </p:sp>
      <p:sp>
        <p:nvSpPr>
          <p:cNvPr id="10" name="TextBox 9"/>
          <p:cNvSpPr txBox="1"/>
          <p:nvPr/>
        </p:nvSpPr>
        <p:spPr>
          <a:xfrm>
            <a:off x="795528" y="2459736"/>
            <a:ext cx="3200400" cy="320040"/>
          </a:xfrm>
          <a:prstGeom prst="rect">
            <a:avLst/>
          </a:prstGeom>
          <a:noFill/>
        </p:spPr>
        <p:txBody>
          <a:bodyPr wrap="square" lIns="18288" rIns="18288" tIns="0" bIns="0">
            <a:spAutoFit/>
          </a:bodyPr>
          <a:lstStyle/>
          <a:p>
            <a:pPr algn="ctr">
              <a:spcAft>
                <a:spcPts val="500"/>
              </a:spcAft>
              <a:defRPr sz="1700" b="0">
                <a:solidFill>
                  <a:srgbClr val="536577"/>
                </a:solidFill>
                <a:latin typeface="DejaVu Sans"/>
              </a:defRPr>
            </a:pPr>
            <a:r>
              <a:t>480 training windows</a:t>
            </a:r>
          </a:p>
        </p:txBody>
      </p:sp>
      <p:sp>
        <p:nvSpPr>
          <p:cNvPr id="11" name="Rounded Rectangle 10"/>
          <p:cNvSpPr/>
          <p:nvPr/>
        </p:nvSpPr>
        <p:spPr>
          <a:xfrm>
            <a:off x="4361688" y="1810512"/>
            <a:ext cx="3474720" cy="1097280"/>
          </a:xfrm>
          <a:prstGeom prst="roundRect">
            <a:avLst>
              <a:gd name="adj" fmla="val 8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8848" y="1965960"/>
            <a:ext cx="3200400" cy="365760"/>
          </a:xfrm>
          <a:prstGeom prst="rect">
            <a:avLst/>
          </a:prstGeom>
          <a:noFill/>
        </p:spPr>
        <p:txBody>
          <a:bodyPr wrap="square" lIns="18288" rIns="18288" tIns="0" bIns="0">
            <a:spAutoFit/>
          </a:bodyPr>
          <a:lstStyle/>
          <a:p>
            <a:pPr algn="ctr">
              <a:spcAft>
                <a:spcPts val="500"/>
              </a:spcAft>
              <a:defRPr sz="2400" b="1">
                <a:solidFill>
                  <a:srgbClr val="132B43"/>
                </a:solidFill>
                <a:latin typeface="DejaVu Sans"/>
              </a:defRPr>
            </a:pPr>
            <a:r>
              <a:t>32 recordings</a:t>
            </a:r>
          </a:p>
        </p:txBody>
      </p:sp>
      <p:sp>
        <p:nvSpPr>
          <p:cNvPr id="13" name="TextBox 12"/>
          <p:cNvSpPr txBox="1"/>
          <p:nvPr/>
        </p:nvSpPr>
        <p:spPr>
          <a:xfrm>
            <a:off x="4498848" y="2459736"/>
            <a:ext cx="3200400" cy="320040"/>
          </a:xfrm>
          <a:prstGeom prst="rect">
            <a:avLst/>
          </a:prstGeom>
          <a:noFill/>
        </p:spPr>
        <p:txBody>
          <a:bodyPr wrap="square" lIns="18288" rIns="18288" tIns="0" bIns="0">
            <a:spAutoFit/>
          </a:bodyPr>
          <a:lstStyle/>
          <a:p>
            <a:pPr algn="ctr">
              <a:spcAft>
                <a:spcPts val="500"/>
              </a:spcAft>
              <a:defRPr sz="1700" b="0">
                <a:solidFill>
                  <a:srgbClr val="536577"/>
                </a:solidFill>
                <a:latin typeface="DejaVu Sans"/>
              </a:defRPr>
            </a:pPr>
            <a:r>
              <a:t>160 validation windows</a:t>
            </a:r>
          </a:p>
        </p:txBody>
      </p:sp>
      <p:sp>
        <p:nvSpPr>
          <p:cNvPr id="14" name="Rounded Rectangle 13"/>
          <p:cNvSpPr/>
          <p:nvPr/>
        </p:nvSpPr>
        <p:spPr>
          <a:xfrm>
            <a:off x="8065008" y="1810512"/>
            <a:ext cx="3474720" cy="1097280"/>
          </a:xfrm>
          <a:prstGeom prst="roundRect">
            <a:avLst>
              <a:gd name="adj" fmla="val 8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02168" y="1965960"/>
            <a:ext cx="3200400" cy="365760"/>
          </a:xfrm>
          <a:prstGeom prst="rect">
            <a:avLst/>
          </a:prstGeom>
          <a:noFill/>
        </p:spPr>
        <p:txBody>
          <a:bodyPr wrap="square" lIns="18288" rIns="18288" tIns="0" bIns="0">
            <a:spAutoFit/>
          </a:bodyPr>
          <a:lstStyle/>
          <a:p>
            <a:pPr algn="ctr">
              <a:spcAft>
                <a:spcPts val="500"/>
              </a:spcAft>
              <a:defRPr sz="2400" b="1">
                <a:solidFill>
                  <a:srgbClr val="132B43"/>
                </a:solidFill>
                <a:latin typeface="DejaVu Sans"/>
              </a:defRPr>
            </a:pPr>
            <a:r>
              <a:t>40 recordings</a:t>
            </a:r>
          </a:p>
        </p:txBody>
      </p:sp>
      <p:sp>
        <p:nvSpPr>
          <p:cNvPr id="16" name="TextBox 15"/>
          <p:cNvSpPr txBox="1"/>
          <p:nvPr/>
        </p:nvSpPr>
        <p:spPr>
          <a:xfrm>
            <a:off x="8202168" y="2459736"/>
            <a:ext cx="3200400" cy="320040"/>
          </a:xfrm>
          <a:prstGeom prst="rect">
            <a:avLst/>
          </a:prstGeom>
          <a:noFill/>
        </p:spPr>
        <p:txBody>
          <a:bodyPr wrap="square" lIns="18288" rIns="18288" tIns="0" bIns="0">
            <a:spAutoFit/>
          </a:bodyPr>
          <a:lstStyle/>
          <a:p>
            <a:pPr algn="ctr">
              <a:spcAft>
                <a:spcPts val="500"/>
              </a:spcAft>
              <a:defRPr sz="1700" b="0">
                <a:solidFill>
                  <a:srgbClr val="536577"/>
                </a:solidFill>
                <a:latin typeface="DejaVu Sans"/>
              </a:defRPr>
            </a:pPr>
            <a:r>
              <a:t>200 test windows</a:t>
            </a:r>
          </a:p>
        </p:txBody>
      </p:sp>
      <p:sp>
        <p:nvSpPr>
          <p:cNvPr id="17" name="TextBox 16"/>
          <p:cNvSpPr txBox="1"/>
          <p:nvPr/>
        </p:nvSpPr>
        <p:spPr>
          <a:xfrm>
            <a:off x="694944" y="3246120"/>
            <a:ext cx="5120640" cy="2286000"/>
          </a:xfrm>
          <a:prstGeom prst="rect">
            <a:avLst/>
          </a:prstGeom>
          <a:noFill/>
        </p:spPr>
        <p:txBody>
          <a:bodyPr wrap="square" lIns="18288" rIns="18288" tIns="0" bIns="0">
            <a:spAutoFit/>
          </a:bodyPr>
          <a:lstStyle/>
          <a:p>
            <a:pPr>
              <a:spcAft>
                <a:spcPts val="500"/>
              </a:spcAft>
              <a:defRPr sz="2100" b="0">
                <a:solidFill>
                  <a:srgbClr val="203448"/>
                </a:solidFill>
                <a:latin typeface="DejaVu Sans"/>
              </a:defRPr>
            </a:pPr>
            <a:r>
              <a:t>Split independent recordings BEFORE windowing.</a:t>
            </a:r>
          </a:p>
          <a:p>
            <a:pPr>
              <a:spcAft>
                <a:spcPts val="500"/>
              </a:spcAft>
              <a:defRPr sz="2100" b="0">
                <a:solidFill>
                  <a:srgbClr val="203448"/>
                </a:solidFill>
                <a:latin typeface="DejaVu Sans"/>
              </a:defRPr>
            </a:pPr>
            <a:r>
              <a:t>Filter → training-only normalization → 64-sample windows.</a:t>
            </a:r>
          </a:p>
          <a:p>
            <a:pPr>
              <a:spcAft>
                <a:spcPts val="500"/>
              </a:spcAft>
              <a:defRPr sz="2100" b="0">
                <a:solidFill>
                  <a:srgbClr val="203448"/>
                </a:solidFill>
                <a:latin typeface="DejaVu Sans"/>
              </a:defRPr>
            </a:pPr>
            <a:r>
              <a:t>Seed 42; five windows per recording.</a:t>
            </a:r>
          </a:p>
        </p:txBody>
      </p:sp>
      <p:sp>
        <p:nvSpPr>
          <p:cNvPr id="18" name="TextBox 17"/>
          <p:cNvSpPr txBox="1"/>
          <p:nvPr/>
        </p:nvSpPr>
        <p:spPr>
          <a:xfrm>
            <a:off x="6309360" y="3246120"/>
            <a:ext cx="5166360" cy="2286000"/>
          </a:xfrm>
          <a:prstGeom prst="rect">
            <a:avLst/>
          </a:prstGeom>
          <a:noFill/>
        </p:spPr>
        <p:txBody>
          <a:bodyPr wrap="square" lIns="18288" rIns="18288" tIns="0" bIns="0">
            <a:spAutoFit/>
          </a:bodyPr>
          <a:lstStyle/>
          <a:p>
            <a:pPr>
              <a:spcAft>
                <a:spcPts val="500"/>
              </a:spcAft>
              <a:defRPr sz="2100" b="0">
                <a:solidFill>
                  <a:srgbClr val="203448"/>
                </a:solidFill>
                <a:latin typeface="DejaVu Sans"/>
              </a:defRPr>
            </a:pPr>
            <a:r>
              <a:t>GRU(6,16) + Linear(16,4): 1,220 parameters.</a:t>
            </a:r>
          </a:p>
          <a:p>
            <a:pPr>
              <a:spcAft>
                <a:spcPts val="500"/>
              </a:spcAft>
              <a:defRPr sz="2100" b="0">
                <a:solidFill>
                  <a:srgbClr val="203448"/>
                </a:solidFill>
                <a:latin typeface="DejaVu Sans"/>
              </a:defRPr>
            </a:pPr>
            <a:r>
              <a:t>Adam; 30 epochs; validation selects checkpoint.</a:t>
            </a:r>
          </a:p>
          <a:p>
            <a:pPr>
              <a:spcAft>
                <a:spcPts val="500"/>
              </a:spcAft>
              <a:defRPr sz="2100" b="0">
                <a:solidFill>
                  <a:srgbClr val="203448"/>
                </a:solidFill>
                <a:latin typeface="DejaVu Sans"/>
              </a:defRPr>
            </a:pPr>
            <a:r>
              <a:t>LSTM comparison is analytical only.</a:t>
            </a:r>
          </a:p>
        </p:txBody>
      </p:sp>
      <p:sp>
        <p:nvSpPr>
          <p:cNvPr id="19" name="TextBox 18"/>
          <p:cNvSpPr txBox="1"/>
          <p:nvPr/>
        </p:nvSpPr>
        <p:spPr>
          <a:xfrm>
            <a:off x="694944" y="5751576"/>
            <a:ext cx="10698480" cy="365760"/>
          </a:xfrm>
          <a:prstGeom prst="rect">
            <a:avLst/>
          </a:prstGeom>
          <a:noFill/>
        </p:spPr>
        <p:txBody>
          <a:bodyPr wrap="square" lIns="18288" rIns="18288" tIns="0" bIns="0">
            <a:spAutoFit/>
          </a:bodyPr>
          <a:lstStyle/>
          <a:p>
            <a:pPr>
              <a:spcAft>
                <a:spcPts val="500"/>
              </a:spcAft>
              <a:defRPr sz="1700" b="1">
                <a:solidFill>
                  <a:srgbClr val="087F8C"/>
                </a:solidFill>
                <a:latin typeface="DejaVu Sans"/>
              </a:defRPr>
            </a:pPr>
            <a:r>
              <a:t>The generator is deliberately learnable; it is not a validated wrist-motion simulator.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square" lIns="18288" rIns="18288" tIns="0" bIns="0">
            <a:spAutoFit/>
          </a:bodyPr>
          <a:lstStyle/>
          <a:p>
            <a:pPr>
              <a:spcAft>
                <a:spcPts val="500"/>
              </a:spcAft>
              <a:defRPr sz="1200" b="1">
                <a:solidFill>
                  <a:srgbClr val="087F8C"/>
                </a:solidFill>
                <a:latin typeface="DejaVu Sans"/>
              </a:defRPr>
            </a:pPr>
            <a:r>
              <a:t>ICT 3132 · SUBMISSION 2</a:t>
            </a:r>
          </a:p>
        </p:txBody>
      </p:sp>
      <p:sp>
        <p:nvSpPr>
          <p:cNvPr id="4" name="TextBox 3"/>
          <p:cNvSpPr txBox="1"/>
          <p:nvPr/>
        </p:nvSpPr>
        <p:spPr>
          <a:xfrm>
            <a:off x="594360" y="822960"/>
            <a:ext cx="10972800" cy="960120"/>
          </a:xfrm>
          <a:prstGeom prst="rect">
            <a:avLst/>
          </a:prstGeom>
          <a:noFill/>
        </p:spPr>
        <p:txBody>
          <a:bodyPr wrap="square" lIns="18288" rIns="18288" tIns="0" bIns="0">
            <a:spAutoFit/>
          </a:bodyPr>
          <a:lstStyle/>
          <a:p>
            <a:pPr>
              <a:spcAft>
                <a:spcPts val="500"/>
              </a:spcAft>
              <a:defRPr sz="3000" b="1">
                <a:solidFill>
                  <a:srgbClr val="132B43"/>
                </a:solidFill>
                <a:latin typeface="DejaVu Sans"/>
              </a:defRPr>
            </a:pPr>
            <a:r>
              <a:t>Software demonstration and actual results</a:t>
            </a:r>
          </a:p>
        </p:txBody>
      </p:sp>
      <p:sp>
        <p:nvSpPr>
          <p:cNvPr id="5" name="Rectangle 4"/>
          <p:cNvSpPr/>
          <p:nvPr/>
        </p:nvSpPr>
        <p:spPr>
          <a:xfrm>
            <a:off x="594360" y="6373368"/>
            <a:ext cx="10972800" cy="10972"/>
          </a:xfrm>
          <a:prstGeom prst="rect">
            <a:avLst/>
          </a:prstGeom>
          <a:solidFill>
            <a:srgbClr val="D7D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73952"/>
            <a:ext cx="10241280" cy="210312"/>
          </a:xfrm>
          <a:prstGeom prst="rect">
            <a:avLst/>
          </a:prstGeom>
          <a:noFill/>
        </p:spPr>
        <p:txBody>
          <a:bodyPr wrap="square" lIns="18288" rIns="18288" tIns="0" bIns="0">
            <a:spAutoFit/>
          </a:bodyPr>
          <a:lstStyle/>
          <a:p>
            <a:pPr>
              <a:spcAft>
                <a:spcPts val="500"/>
              </a:spcAft>
              <a:defRPr sz="1000" b="0">
                <a:solidFill>
                  <a:srgbClr val="536577"/>
                </a:solidFill>
                <a:latin typeface="DejaVu Sans"/>
              </a:defRPr>
            </a:pPr>
            <a:r>
              <a:t>MIT Manipal · V Semester B.Tech. IT · Synthetic software evidence only</a:t>
            </a:r>
          </a:p>
        </p:txBody>
      </p:sp>
      <p:sp>
        <p:nvSpPr>
          <p:cNvPr id="7" name="TextBox 6"/>
          <p:cNvSpPr txBox="1"/>
          <p:nvPr/>
        </p:nvSpPr>
        <p:spPr>
          <a:xfrm>
            <a:off x="11064240" y="6437376"/>
            <a:ext cx="457200" cy="274320"/>
          </a:xfrm>
          <a:prstGeom prst="rect">
            <a:avLst/>
          </a:prstGeom>
          <a:noFill/>
        </p:spPr>
        <p:txBody>
          <a:bodyPr wrap="square" lIns="18288" rIns="18288" tIns="0" bIns="0">
            <a:spAutoFit/>
          </a:bodyPr>
          <a:lstStyle/>
          <a:p>
            <a:pPr algn="r">
              <a:spcAft>
                <a:spcPts val="500"/>
              </a:spcAft>
              <a:defRPr sz="1100" b="0">
                <a:solidFill>
                  <a:srgbClr val="536577"/>
                </a:solidFill>
                <a:latin typeface="DejaVu Sans"/>
              </a:defRPr>
            </a:pPr>
            <a:r>
              <a:t>6</a:t>
            </a:r>
          </a:p>
        </p:txBody>
      </p:sp>
      <p:pic>
        <p:nvPicPr>
          <p:cNvPr id="8" name="Picture 7" descr="demo_output.png"/>
          <p:cNvPicPr>
            <a:picLocks noChangeAspect="1"/>
          </p:cNvPicPr>
          <p:nvPr/>
        </p:nvPicPr>
        <p:blipFill>
          <a:blip r:embed="rId2"/>
          <a:stretch>
            <a:fillRect/>
          </a:stretch>
        </p:blipFill>
        <p:spPr>
          <a:xfrm>
            <a:off x="658368" y="1810512"/>
            <a:ext cx="10881360" cy="2467937"/>
          </a:xfrm>
          <a:prstGeom prst="rect">
            <a:avLst/>
          </a:prstGeom>
        </p:spPr>
      </p:pic>
      <p:sp>
        <p:nvSpPr>
          <p:cNvPr id="9" name="Rounded Rectangle 8"/>
          <p:cNvSpPr/>
          <p:nvPr/>
        </p:nvSpPr>
        <p:spPr>
          <a:xfrm>
            <a:off x="658368" y="4572000"/>
            <a:ext cx="3474720" cy="932688"/>
          </a:xfrm>
          <a:prstGeom prst="roundRect">
            <a:avLst>
              <a:gd name="adj" fmla="val 8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4681728"/>
            <a:ext cx="3291840" cy="347472"/>
          </a:xfrm>
          <a:prstGeom prst="rect">
            <a:avLst/>
          </a:prstGeom>
          <a:noFill/>
        </p:spPr>
        <p:txBody>
          <a:bodyPr wrap="square" lIns="18288" rIns="18288" tIns="0" bIns="0">
            <a:spAutoFit/>
          </a:bodyPr>
          <a:lstStyle/>
          <a:p>
            <a:pPr algn="ctr">
              <a:spcAft>
                <a:spcPts val="500"/>
              </a:spcAft>
              <a:defRPr sz="2500" b="1">
                <a:solidFill>
                  <a:srgbClr val="087F8C"/>
                </a:solidFill>
                <a:latin typeface="DejaVu Sans"/>
              </a:defRPr>
            </a:pPr>
            <a:r>
              <a:t>100.0%</a:t>
            </a:r>
          </a:p>
        </p:txBody>
      </p:sp>
      <p:sp>
        <p:nvSpPr>
          <p:cNvPr id="11" name="TextBox 10"/>
          <p:cNvSpPr txBox="1"/>
          <p:nvPr/>
        </p:nvSpPr>
        <p:spPr>
          <a:xfrm>
            <a:off x="749808" y="5166360"/>
            <a:ext cx="3291840" cy="256032"/>
          </a:xfrm>
          <a:prstGeom prst="rect">
            <a:avLst/>
          </a:prstGeom>
          <a:noFill/>
        </p:spPr>
        <p:txBody>
          <a:bodyPr wrap="square" lIns="18288" rIns="18288" tIns="0" bIns="0">
            <a:spAutoFit/>
          </a:bodyPr>
          <a:lstStyle/>
          <a:p>
            <a:pPr algn="ctr">
              <a:spcAft>
                <a:spcPts val="500"/>
              </a:spcAft>
              <a:defRPr sz="1400" b="0">
                <a:solidFill>
                  <a:srgbClr val="536577"/>
                </a:solidFill>
                <a:latin typeface="DejaVu Sans"/>
              </a:defRPr>
            </a:pPr>
            <a:r>
              <a:t>Synthetic test accuracy</a:t>
            </a:r>
          </a:p>
        </p:txBody>
      </p:sp>
      <p:sp>
        <p:nvSpPr>
          <p:cNvPr id="12" name="Rounded Rectangle 11"/>
          <p:cNvSpPr/>
          <p:nvPr/>
        </p:nvSpPr>
        <p:spPr>
          <a:xfrm>
            <a:off x="4361688" y="4572000"/>
            <a:ext cx="3474720" cy="932688"/>
          </a:xfrm>
          <a:prstGeom prst="roundRect">
            <a:avLst>
              <a:gd name="adj" fmla="val 8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53127" y="4681728"/>
            <a:ext cx="3291840" cy="347472"/>
          </a:xfrm>
          <a:prstGeom prst="rect">
            <a:avLst/>
          </a:prstGeom>
          <a:noFill/>
        </p:spPr>
        <p:txBody>
          <a:bodyPr wrap="square" lIns="18288" rIns="18288" tIns="0" bIns="0">
            <a:spAutoFit/>
          </a:bodyPr>
          <a:lstStyle/>
          <a:p>
            <a:pPr algn="ctr">
              <a:spcAft>
                <a:spcPts val="500"/>
              </a:spcAft>
              <a:defRPr sz="2500" b="1">
                <a:solidFill>
                  <a:srgbClr val="087F8C"/>
                </a:solidFill>
                <a:latin typeface="DejaVu Sans"/>
              </a:defRPr>
            </a:pPr>
            <a:r>
              <a:t>1.000</a:t>
            </a:r>
          </a:p>
        </p:txBody>
      </p:sp>
      <p:sp>
        <p:nvSpPr>
          <p:cNvPr id="14" name="TextBox 13"/>
          <p:cNvSpPr txBox="1"/>
          <p:nvPr/>
        </p:nvSpPr>
        <p:spPr>
          <a:xfrm>
            <a:off x="4453127" y="5166360"/>
            <a:ext cx="3291840" cy="256032"/>
          </a:xfrm>
          <a:prstGeom prst="rect">
            <a:avLst/>
          </a:prstGeom>
          <a:noFill/>
        </p:spPr>
        <p:txBody>
          <a:bodyPr wrap="square" lIns="18288" rIns="18288" tIns="0" bIns="0">
            <a:spAutoFit/>
          </a:bodyPr>
          <a:lstStyle/>
          <a:p>
            <a:pPr algn="ctr">
              <a:spcAft>
                <a:spcPts val="500"/>
              </a:spcAft>
              <a:defRPr sz="1400" b="0">
                <a:solidFill>
                  <a:srgbClr val="536577"/>
                </a:solidFill>
                <a:latin typeface="DejaVu Sans"/>
              </a:defRPr>
            </a:pPr>
            <a:r>
              <a:t>Synthetic macro-F1</a:t>
            </a:r>
          </a:p>
        </p:txBody>
      </p:sp>
      <p:sp>
        <p:nvSpPr>
          <p:cNvPr id="15" name="Rounded Rectangle 14"/>
          <p:cNvSpPr/>
          <p:nvPr/>
        </p:nvSpPr>
        <p:spPr>
          <a:xfrm>
            <a:off x="8065008" y="4572000"/>
            <a:ext cx="3474720" cy="932688"/>
          </a:xfrm>
          <a:prstGeom prst="roundRect">
            <a:avLst>
              <a:gd name="adj" fmla="val 8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56448" y="4681728"/>
            <a:ext cx="3291840" cy="347472"/>
          </a:xfrm>
          <a:prstGeom prst="rect">
            <a:avLst/>
          </a:prstGeom>
          <a:noFill/>
        </p:spPr>
        <p:txBody>
          <a:bodyPr wrap="square" lIns="18288" rIns="18288" tIns="0" bIns="0">
            <a:spAutoFit/>
          </a:bodyPr>
          <a:lstStyle/>
          <a:p>
            <a:pPr algn="ctr">
              <a:spcAft>
                <a:spcPts val="500"/>
              </a:spcAft>
              <a:defRPr sz="2500" b="1">
                <a:solidFill>
                  <a:srgbClr val="087F8C"/>
                </a:solidFill>
                <a:latin typeface="DejaVu Sans"/>
              </a:defRPr>
            </a:pPr>
            <a:r>
              <a:t>0.668 ms</a:t>
            </a:r>
          </a:p>
        </p:txBody>
      </p:sp>
      <p:sp>
        <p:nvSpPr>
          <p:cNvPr id="17" name="TextBox 16"/>
          <p:cNvSpPr txBox="1"/>
          <p:nvPr/>
        </p:nvSpPr>
        <p:spPr>
          <a:xfrm>
            <a:off x="8156448" y="5166360"/>
            <a:ext cx="3291840" cy="256032"/>
          </a:xfrm>
          <a:prstGeom prst="rect">
            <a:avLst/>
          </a:prstGeom>
          <a:noFill/>
        </p:spPr>
        <p:txBody>
          <a:bodyPr wrap="square" lIns="18288" rIns="18288" tIns="0" bIns="0">
            <a:spAutoFit/>
          </a:bodyPr>
          <a:lstStyle/>
          <a:p>
            <a:pPr algn="ctr">
              <a:spcAft>
                <a:spcPts val="500"/>
              </a:spcAft>
              <a:defRPr sz="1400" b="0">
                <a:solidFill>
                  <a:srgbClr val="536577"/>
                </a:solidFill>
                <a:latin typeface="DejaVu Sans"/>
              </a:defRPr>
            </a:pPr>
            <a:r>
              <a:t>Host-only median inference</a:t>
            </a:r>
          </a:p>
        </p:txBody>
      </p:sp>
      <p:sp>
        <p:nvSpPr>
          <p:cNvPr id="18" name="TextBox 17"/>
          <p:cNvSpPr txBox="1"/>
          <p:nvPr/>
        </p:nvSpPr>
        <p:spPr>
          <a:xfrm>
            <a:off x="694944" y="5797296"/>
            <a:ext cx="10698480" cy="347472"/>
          </a:xfrm>
          <a:prstGeom prst="rect">
            <a:avLst/>
          </a:prstGeom>
          <a:noFill/>
        </p:spPr>
        <p:txBody>
          <a:bodyPr wrap="square" lIns="18288" rIns="18288" tIns="0" bIns="0">
            <a:spAutoFit/>
          </a:bodyPr>
          <a:lstStyle/>
          <a:p>
            <a:pPr>
              <a:spcAft>
                <a:spcPts val="500"/>
              </a:spcAft>
              <a:defRPr sz="1600" b="1">
                <a:solidFill>
                  <a:srgbClr val="132B43"/>
                </a:solidFill>
                <a:latin typeface="DejaVu Sans"/>
              </a:defRPr>
            </a:pPr>
            <a:r>
              <a:t>Perfect toy-data scores verify this generator/pipeline only; real-world accuracy is unknown.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square" lIns="18288" rIns="18288" tIns="0" bIns="0">
            <a:spAutoFit/>
          </a:bodyPr>
          <a:lstStyle/>
          <a:p>
            <a:pPr>
              <a:spcAft>
                <a:spcPts val="500"/>
              </a:spcAft>
              <a:defRPr sz="1200" b="1">
                <a:solidFill>
                  <a:srgbClr val="087F8C"/>
                </a:solidFill>
                <a:latin typeface="DejaVu Sans"/>
              </a:defRPr>
            </a:pPr>
            <a:r>
              <a:t>ICT 3132 · SUBMISSION 2</a:t>
            </a:r>
          </a:p>
        </p:txBody>
      </p:sp>
      <p:sp>
        <p:nvSpPr>
          <p:cNvPr id="4" name="TextBox 3"/>
          <p:cNvSpPr txBox="1"/>
          <p:nvPr/>
        </p:nvSpPr>
        <p:spPr>
          <a:xfrm>
            <a:off x="594360" y="822960"/>
            <a:ext cx="10972800" cy="960120"/>
          </a:xfrm>
          <a:prstGeom prst="rect">
            <a:avLst/>
          </a:prstGeom>
          <a:noFill/>
        </p:spPr>
        <p:txBody>
          <a:bodyPr wrap="square" lIns="18288" rIns="18288" tIns="0" bIns="0">
            <a:spAutoFit/>
          </a:bodyPr>
          <a:lstStyle/>
          <a:p>
            <a:pPr>
              <a:spcAft>
                <a:spcPts val="500"/>
              </a:spcAft>
              <a:defRPr sz="3000" b="1">
                <a:solidFill>
                  <a:srgbClr val="132B43"/>
                </a:solidFill>
                <a:latin typeface="DejaVu Sans"/>
              </a:defRPr>
            </a:pPr>
            <a:r>
              <a:t>Limitations and future work</a:t>
            </a:r>
          </a:p>
        </p:txBody>
      </p:sp>
      <p:sp>
        <p:nvSpPr>
          <p:cNvPr id="5" name="Rectangle 4"/>
          <p:cNvSpPr/>
          <p:nvPr/>
        </p:nvSpPr>
        <p:spPr>
          <a:xfrm>
            <a:off x="594360" y="6373368"/>
            <a:ext cx="10972800" cy="10972"/>
          </a:xfrm>
          <a:prstGeom prst="rect">
            <a:avLst/>
          </a:prstGeom>
          <a:solidFill>
            <a:srgbClr val="D7D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73952"/>
            <a:ext cx="10241280" cy="210312"/>
          </a:xfrm>
          <a:prstGeom prst="rect">
            <a:avLst/>
          </a:prstGeom>
          <a:noFill/>
        </p:spPr>
        <p:txBody>
          <a:bodyPr wrap="square" lIns="18288" rIns="18288" tIns="0" bIns="0">
            <a:spAutoFit/>
          </a:bodyPr>
          <a:lstStyle/>
          <a:p>
            <a:pPr>
              <a:spcAft>
                <a:spcPts val="500"/>
              </a:spcAft>
              <a:defRPr sz="1000" b="0">
                <a:solidFill>
                  <a:srgbClr val="536577"/>
                </a:solidFill>
                <a:latin typeface="DejaVu Sans"/>
              </a:defRPr>
            </a:pPr>
            <a:r>
              <a:t>MIT Manipal · V Semester B.Tech. IT · Synthetic software evidence only</a:t>
            </a:r>
          </a:p>
        </p:txBody>
      </p:sp>
      <p:sp>
        <p:nvSpPr>
          <p:cNvPr id="7" name="TextBox 6"/>
          <p:cNvSpPr txBox="1"/>
          <p:nvPr/>
        </p:nvSpPr>
        <p:spPr>
          <a:xfrm>
            <a:off x="11064240" y="6437376"/>
            <a:ext cx="457200" cy="274320"/>
          </a:xfrm>
          <a:prstGeom prst="rect">
            <a:avLst/>
          </a:prstGeom>
          <a:noFill/>
        </p:spPr>
        <p:txBody>
          <a:bodyPr wrap="square" lIns="18288" rIns="18288" tIns="0" bIns="0">
            <a:spAutoFit/>
          </a:bodyPr>
          <a:lstStyle/>
          <a:p>
            <a:pPr algn="r">
              <a:spcAft>
                <a:spcPts val="500"/>
              </a:spcAft>
              <a:defRPr sz="1100" b="0">
                <a:solidFill>
                  <a:srgbClr val="536577"/>
                </a:solidFill>
                <a:latin typeface="DejaVu Sans"/>
              </a:defRPr>
            </a:pPr>
            <a:r>
              <a:t>7</a:t>
            </a:r>
          </a:p>
        </p:txBody>
      </p:sp>
      <p:sp>
        <p:nvSpPr>
          <p:cNvPr id="8" name="TextBox 7"/>
          <p:cNvSpPr txBox="1"/>
          <p:nvPr/>
        </p:nvSpPr>
        <p:spPr>
          <a:xfrm>
            <a:off x="658368" y="1828800"/>
            <a:ext cx="5120640" cy="384048"/>
          </a:xfrm>
          <a:prstGeom prst="rect">
            <a:avLst/>
          </a:prstGeom>
          <a:noFill/>
        </p:spPr>
        <p:txBody>
          <a:bodyPr wrap="square" lIns="18288" rIns="18288" tIns="0" bIns="0">
            <a:spAutoFit/>
          </a:bodyPr>
          <a:lstStyle/>
          <a:p>
            <a:pPr>
              <a:spcAft>
                <a:spcPts val="500"/>
              </a:spcAft>
              <a:defRPr sz="2100" b="1">
                <a:solidFill>
                  <a:srgbClr val="132B43"/>
                </a:solidFill>
                <a:latin typeface="DejaVu Sans"/>
              </a:defRPr>
            </a:pPr>
            <a:r>
              <a:t>Evidence limits</a:t>
            </a:r>
          </a:p>
        </p:txBody>
      </p:sp>
      <p:sp>
        <p:nvSpPr>
          <p:cNvPr id="9" name="TextBox 8"/>
          <p:cNvSpPr txBox="1"/>
          <p:nvPr/>
        </p:nvSpPr>
        <p:spPr>
          <a:xfrm>
            <a:off x="658368" y="2313432"/>
            <a:ext cx="5120640" cy="960120"/>
          </a:xfrm>
          <a:prstGeom prst="rect">
            <a:avLst/>
          </a:prstGeom>
          <a:noFill/>
        </p:spPr>
        <p:txBody>
          <a:bodyPr wrap="square" lIns="18288" rIns="18288" tIns="0" bIns="0">
            <a:spAutoFit/>
          </a:bodyPr>
          <a:lstStyle/>
          <a:p>
            <a:pPr>
              <a:spcAft>
                <a:spcPts val="500"/>
              </a:spcAft>
              <a:defRPr sz="1800" b="0">
                <a:solidFill>
                  <a:srgbClr val="536577"/>
                </a:solidFill>
                <a:latin typeface="DejaVu Sans"/>
              </a:defRPr>
            </a:pPr>
            <a:r>
              <a:t>Synthetic recordings do not cover user variation, tremor, mounting changes, or real incidental motion.</a:t>
            </a:r>
          </a:p>
        </p:txBody>
      </p:sp>
      <p:sp>
        <p:nvSpPr>
          <p:cNvPr id="10" name="TextBox 9"/>
          <p:cNvSpPr txBox="1"/>
          <p:nvPr/>
        </p:nvSpPr>
        <p:spPr>
          <a:xfrm>
            <a:off x="658368" y="3547872"/>
            <a:ext cx="5120640" cy="384048"/>
          </a:xfrm>
          <a:prstGeom prst="rect">
            <a:avLst/>
          </a:prstGeom>
          <a:noFill/>
        </p:spPr>
        <p:txBody>
          <a:bodyPr wrap="square" lIns="18288" rIns="18288" tIns="0" bIns="0">
            <a:spAutoFit/>
          </a:bodyPr>
          <a:lstStyle/>
          <a:p>
            <a:pPr>
              <a:spcAft>
                <a:spcPts val="500"/>
              </a:spcAft>
              <a:defRPr sz="2100" b="1">
                <a:solidFill>
                  <a:srgbClr val="132B43"/>
                </a:solidFill>
                <a:latin typeface="DejaVu Sans"/>
              </a:defRPr>
            </a:pPr>
            <a:r>
              <a:t>No hardware claims</a:t>
            </a:r>
          </a:p>
        </p:txBody>
      </p:sp>
      <p:sp>
        <p:nvSpPr>
          <p:cNvPr id="11" name="TextBox 10"/>
          <p:cNvSpPr txBox="1"/>
          <p:nvPr/>
        </p:nvSpPr>
        <p:spPr>
          <a:xfrm>
            <a:off x="658368" y="4032504"/>
            <a:ext cx="5120640" cy="960120"/>
          </a:xfrm>
          <a:prstGeom prst="rect">
            <a:avLst/>
          </a:prstGeom>
          <a:noFill/>
        </p:spPr>
        <p:txBody>
          <a:bodyPr wrap="square" lIns="18288" rIns="18288" tIns="0" bIns="0">
            <a:spAutoFit/>
          </a:bodyPr>
          <a:lstStyle/>
          <a:p>
            <a:pPr>
              <a:spcAft>
                <a:spcPts val="500"/>
              </a:spcAft>
              <a:defRPr sz="1800" b="0">
                <a:solidFill>
                  <a:srgbClr val="536577"/>
                </a:solidFill>
                <a:latin typeface="DejaVu Sans"/>
              </a:defRPr>
            </a:pPr>
            <a:r>
              <a:t>MCU latency, peak RAM, flash footprint, power, and battery life have not been measured.</a:t>
            </a:r>
          </a:p>
        </p:txBody>
      </p:sp>
      <p:sp>
        <p:nvSpPr>
          <p:cNvPr id="12" name="Rounded Rectangle 11"/>
          <p:cNvSpPr/>
          <p:nvPr/>
        </p:nvSpPr>
        <p:spPr>
          <a:xfrm>
            <a:off x="6291072" y="1810512"/>
            <a:ext cx="5212080" cy="4142232"/>
          </a:xfrm>
          <a:prstGeom prst="roundRect">
            <a:avLst>
              <a:gd name="adj" fmla="val 8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0528" y="2011680"/>
            <a:ext cx="4754880" cy="365760"/>
          </a:xfrm>
          <a:prstGeom prst="rect">
            <a:avLst/>
          </a:prstGeom>
          <a:noFill/>
        </p:spPr>
        <p:txBody>
          <a:bodyPr wrap="square" lIns="18288" rIns="18288" tIns="0" bIns="0">
            <a:spAutoFit/>
          </a:bodyPr>
          <a:lstStyle/>
          <a:p>
            <a:pPr>
              <a:spcAft>
                <a:spcPts val="500"/>
              </a:spcAft>
              <a:defRPr sz="2200" b="1">
                <a:solidFill>
                  <a:srgbClr val="132B43"/>
                </a:solidFill>
                <a:latin typeface="DejaVu Sans"/>
              </a:defRPr>
            </a:pPr>
            <a:r>
              <a:t>Next steps, if extended</a:t>
            </a:r>
          </a:p>
        </p:txBody>
      </p:sp>
      <p:sp>
        <p:nvSpPr>
          <p:cNvPr id="14" name="TextBox 13"/>
          <p:cNvSpPr txBox="1"/>
          <p:nvPr/>
        </p:nvSpPr>
        <p:spPr>
          <a:xfrm>
            <a:off x="6510528" y="2679192"/>
            <a:ext cx="4572000" cy="2834640"/>
          </a:xfrm>
          <a:prstGeom prst="rect">
            <a:avLst/>
          </a:prstGeom>
          <a:noFill/>
        </p:spPr>
        <p:txBody>
          <a:bodyPr wrap="square" lIns="18288" rIns="18288" tIns="0" bIns="0">
            <a:spAutoFit/>
          </a:bodyPr>
          <a:lstStyle/>
          <a:p>
            <a:pPr>
              <a:spcAft>
                <a:spcPts val="500"/>
              </a:spcAft>
              <a:defRPr sz="2000" b="0">
                <a:solidFill>
                  <a:srgbClr val="203448"/>
                </a:solidFill>
                <a:latin typeface="DejaVu Sans"/>
              </a:defRPr>
            </a:pPr>
            <a:r>
              <a:t>• Real-data and user evaluation</a:t>
            </a:r>
          </a:p>
          <a:p>
            <a:pPr>
              <a:spcAft>
                <a:spcPts val="500"/>
              </a:spcAft>
              <a:defRPr sz="2000" b="0">
                <a:solidFill>
                  <a:srgbClr val="203448"/>
                </a:solidFill>
                <a:latin typeface="DejaVu Sans"/>
              </a:defRPr>
            </a:pPr>
            <a:r>
              <a:t>• Continuous rejection + cooldown</a:t>
            </a:r>
          </a:p>
          <a:p>
            <a:pPr>
              <a:spcAft>
                <a:spcPts val="500"/>
              </a:spcAft>
              <a:defRPr sz="2000" b="0">
                <a:solidFill>
                  <a:srgbClr val="203448"/>
                </a:solidFill>
                <a:latin typeface="DejaVu Sans"/>
              </a:defRPr>
            </a:pPr>
            <a:r>
              <a:t>• MCU/runtime operator checks</a:t>
            </a:r>
          </a:p>
          <a:p>
            <a:pPr>
              <a:spcAft>
                <a:spcPts val="500"/>
              </a:spcAft>
              <a:defRPr sz="2000" b="0">
                <a:solidFill>
                  <a:srgbClr val="203448"/>
                </a:solidFill>
                <a:latin typeface="DejaVu Sans"/>
              </a:defRPr>
            </a:pPr>
            <a:r>
              <a:t>• Optional 8-bit quantization</a:t>
            </a:r>
          </a:p>
          <a:p>
            <a:pPr>
              <a:spcAft>
                <a:spcPts val="500"/>
              </a:spcAft>
              <a:defRPr sz="2000" b="0">
                <a:solidFill>
                  <a:srgbClr val="203448"/>
                </a:solidFill>
                <a:latin typeface="DejaVu Sans"/>
              </a:defRPr>
            </a:pPr>
            <a:r>
              <a:t>• Optional wireless integration</a:t>
            </a:r>
          </a:p>
        </p:txBody>
      </p:sp>
      <p:sp>
        <p:nvSpPr>
          <p:cNvPr id="15" name="TextBox 14"/>
          <p:cNvSpPr txBox="1"/>
          <p:nvPr/>
        </p:nvSpPr>
        <p:spPr>
          <a:xfrm>
            <a:off x="685800" y="5769864"/>
            <a:ext cx="5349240" cy="438912"/>
          </a:xfrm>
          <a:prstGeom prst="rect">
            <a:avLst/>
          </a:prstGeom>
          <a:noFill/>
        </p:spPr>
        <p:txBody>
          <a:bodyPr wrap="square" lIns="18288" rIns="18288" tIns="0" bIns="0">
            <a:spAutoFit/>
          </a:bodyPr>
          <a:lstStyle/>
          <a:p>
            <a:pPr>
              <a:spcAft>
                <a:spcPts val="500"/>
              </a:spcAft>
              <a:defRPr sz="1500" b="1">
                <a:solidFill>
                  <a:srgbClr val="087F8C"/>
                </a:solidFill>
                <a:latin typeface="DejaVu Sans"/>
              </a:defRPr>
            </a:pPr>
            <a:r>
              <a:t>Submission checks: Scopus verification + approved similarity report.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square" lIns="18288" rIns="18288" tIns="0" bIns="0">
            <a:spAutoFit/>
          </a:bodyPr>
          <a:lstStyle/>
          <a:p>
            <a:pPr>
              <a:spcAft>
                <a:spcPts val="500"/>
              </a:spcAft>
              <a:defRPr sz="1200" b="1">
                <a:solidFill>
                  <a:srgbClr val="087F8C"/>
                </a:solidFill>
                <a:latin typeface="DejaVu Sans"/>
              </a:defRPr>
            </a:pPr>
            <a:r>
              <a:t>ICT 3132 · SUBMISSION 2</a:t>
            </a:r>
          </a:p>
        </p:txBody>
      </p:sp>
      <p:sp>
        <p:nvSpPr>
          <p:cNvPr id="4" name="TextBox 3"/>
          <p:cNvSpPr txBox="1"/>
          <p:nvPr/>
        </p:nvSpPr>
        <p:spPr>
          <a:xfrm>
            <a:off x="594360" y="822960"/>
            <a:ext cx="10972800" cy="960120"/>
          </a:xfrm>
          <a:prstGeom prst="rect">
            <a:avLst/>
          </a:prstGeom>
          <a:noFill/>
        </p:spPr>
        <p:txBody>
          <a:bodyPr wrap="square" lIns="18288" rIns="18288" tIns="0" bIns="0">
            <a:spAutoFit/>
          </a:bodyPr>
          <a:lstStyle/>
          <a:p>
            <a:pPr>
              <a:spcAft>
                <a:spcPts val="500"/>
              </a:spcAft>
              <a:defRPr sz="3000" b="1">
                <a:solidFill>
                  <a:srgbClr val="132B43"/>
                </a:solidFill>
                <a:latin typeface="DejaVu Sans"/>
              </a:defRPr>
            </a:pPr>
            <a:r>
              <a:t>Conclusion and reproducible demonstration</a:t>
            </a:r>
          </a:p>
        </p:txBody>
      </p:sp>
      <p:sp>
        <p:nvSpPr>
          <p:cNvPr id="5" name="Rectangle 4"/>
          <p:cNvSpPr/>
          <p:nvPr/>
        </p:nvSpPr>
        <p:spPr>
          <a:xfrm>
            <a:off x="594360" y="6373368"/>
            <a:ext cx="10972800" cy="10972"/>
          </a:xfrm>
          <a:prstGeom prst="rect">
            <a:avLst/>
          </a:prstGeom>
          <a:solidFill>
            <a:srgbClr val="D7D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73952"/>
            <a:ext cx="10241280" cy="210312"/>
          </a:xfrm>
          <a:prstGeom prst="rect">
            <a:avLst/>
          </a:prstGeom>
          <a:noFill/>
        </p:spPr>
        <p:txBody>
          <a:bodyPr wrap="square" lIns="18288" rIns="18288" tIns="0" bIns="0">
            <a:spAutoFit/>
          </a:bodyPr>
          <a:lstStyle/>
          <a:p>
            <a:pPr>
              <a:spcAft>
                <a:spcPts val="500"/>
              </a:spcAft>
              <a:defRPr sz="1000" b="0">
                <a:solidFill>
                  <a:srgbClr val="536577"/>
                </a:solidFill>
                <a:latin typeface="DejaVu Sans"/>
              </a:defRPr>
            </a:pPr>
            <a:r>
              <a:t>MIT Manipal · V Semester B.Tech. IT · Synthetic software evidence only</a:t>
            </a:r>
          </a:p>
        </p:txBody>
      </p:sp>
      <p:sp>
        <p:nvSpPr>
          <p:cNvPr id="7" name="TextBox 6"/>
          <p:cNvSpPr txBox="1"/>
          <p:nvPr/>
        </p:nvSpPr>
        <p:spPr>
          <a:xfrm>
            <a:off x="11064240" y="6437376"/>
            <a:ext cx="457200" cy="274320"/>
          </a:xfrm>
          <a:prstGeom prst="rect">
            <a:avLst/>
          </a:prstGeom>
          <a:noFill/>
        </p:spPr>
        <p:txBody>
          <a:bodyPr wrap="square" lIns="18288" rIns="18288" tIns="0" bIns="0">
            <a:spAutoFit/>
          </a:bodyPr>
          <a:lstStyle/>
          <a:p>
            <a:pPr algn="r">
              <a:spcAft>
                <a:spcPts val="500"/>
              </a:spcAft>
              <a:defRPr sz="1100" b="0">
                <a:solidFill>
                  <a:srgbClr val="536577"/>
                </a:solidFill>
                <a:latin typeface="DejaVu Sans"/>
              </a:defRPr>
            </a:pPr>
            <a:r>
              <a:t>8</a:t>
            </a:r>
          </a:p>
        </p:txBody>
      </p:sp>
      <p:sp>
        <p:nvSpPr>
          <p:cNvPr id="8" name="TextBox 7"/>
          <p:cNvSpPr txBox="1"/>
          <p:nvPr/>
        </p:nvSpPr>
        <p:spPr>
          <a:xfrm>
            <a:off x="694944" y="1847088"/>
            <a:ext cx="10698480" cy="868680"/>
          </a:xfrm>
          <a:prstGeom prst="rect">
            <a:avLst/>
          </a:prstGeom>
          <a:noFill/>
        </p:spPr>
        <p:txBody>
          <a:bodyPr wrap="square" lIns="18288" rIns="18288" tIns="0" bIns="0">
            <a:spAutoFit/>
          </a:bodyPr>
          <a:lstStyle/>
          <a:p>
            <a:pPr>
              <a:spcAft>
                <a:spcPts val="500"/>
              </a:spcAft>
              <a:defRPr sz="2800" b="1">
                <a:solidFill>
                  <a:srgbClr val="132B43"/>
                </a:solidFill>
                <a:latin typeface="DejaVu Sans"/>
              </a:defRPr>
            </a:pPr>
            <a:r>
              <a:t>A small, working software pipeline advances the synopsis without overstating what has been built.</a:t>
            </a:r>
          </a:p>
        </p:txBody>
      </p:sp>
      <p:sp>
        <p:nvSpPr>
          <p:cNvPr id="9" name="TextBox 8"/>
          <p:cNvSpPr txBox="1"/>
          <p:nvPr/>
        </p:nvSpPr>
        <p:spPr>
          <a:xfrm>
            <a:off x="704088" y="2907792"/>
            <a:ext cx="10561320" cy="1234440"/>
          </a:xfrm>
          <a:prstGeom prst="rect">
            <a:avLst/>
          </a:prstGeom>
          <a:noFill/>
        </p:spPr>
        <p:txBody>
          <a:bodyPr wrap="square" lIns="18288" rIns="18288" tIns="0" bIns="0">
            <a:spAutoFit/>
          </a:bodyPr>
          <a:lstStyle/>
          <a:p>
            <a:pPr>
              <a:spcAft>
                <a:spcPts val="500"/>
              </a:spcAft>
              <a:defRPr sz="2100" b="0">
                <a:solidFill>
                  <a:srgbClr val="203448"/>
                </a:solidFill>
                <a:latin typeface="DejaVu Sans"/>
              </a:defRPr>
            </a:pPr>
            <a:r>
              <a:t>Implemented: six-channel synthetic input, preprocessing, windows, trained GRU, rejection, and command output.</a:t>
            </a:r>
          </a:p>
          <a:p>
            <a:pPr>
              <a:spcAft>
                <a:spcPts val="500"/>
              </a:spcAft>
              <a:defRPr sz="2100" b="0">
                <a:solidFill>
                  <a:srgbClr val="203448"/>
                </a:solidFill>
                <a:latin typeface="DejaVu Sans"/>
              </a:defRPr>
            </a:pPr>
            <a:r>
              <a:t>Verified: held-out synthetic metrics and seven pipeline tests.</a:t>
            </a:r>
          </a:p>
        </p:txBody>
      </p:sp>
      <p:sp>
        <p:nvSpPr>
          <p:cNvPr id="10" name="Rounded Rectangle 9"/>
          <p:cNvSpPr/>
          <p:nvPr/>
        </p:nvSpPr>
        <p:spPr>
          <a:xfrm>
            <a:off x="694944" y="4480560"/>
            <a:ext cx="10789920" cy="1024128"/>
          </a:xfrm>
          <a:prstGeom prst="roundRect">
            <a:avLst>
              <a:gd name="adj" fmla="val 8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4645152"/>
            <a:ext cx="10332720" cy="621792"/>
          </a:xfrm>
          <a:prstGeom prst="rect">
            <a:avLst/>
          </a:prstGeom>
          <a:noFill/>
        </p:spPr>
        <p:txBody>
          <a:bodyPr wrap="square" lIns="18288" rIns="18288" tIns="0" bIns="0">
            <a:spAutoFit/>
          </a:bodyPr>
          <a:lstStyle/>
          <a:p>
            <a:pPr>
              <a:spcAft>
                <a:spcPts val="500"/>
              </a:spcAft>
              <a:defRPr sz="2100" b="1">
                <a:solidFill>
                  <a:srgbClr val="087F8C"/>
                </a:solidFill>
                <a:latin typeface="DejaVu Sans"/>
              </a:defRPr>
            </a:pPr>
            <a:r>
              <a:t>Run: python demo/demo.py</a:t>
            </a:r>
          </a:p>
          <a:p>
            <a:pPr>
              <a:spcAft>
                <a:spcPts val="500"/>
              </a:spcAft>
              <a:defRPr sz="2100" b="1">
                <a:solidFill>
                  <a:srgbClr val="087F8C"/>
                </a:solidFill>
                <a:latin typeface="DejaVu Sans"/>
              </a:defRPr>
            </a:pPr>
            <a:r>
              <a:t>Reproduce: python demo/demo.py --train</a:t>
            </a:r>
          </a:p>
        </p:txBody>
      </p:sp>
      <p:sp>
        <p:nvSpPr>
          <p:cNvPr id="12" name="TextBox 11"/>
          <p:cNvSpPr txBox="1"/>
          <p:nvPr/>
        </p:nvSpPr>
        <p:spPr>
          <a:xfrm>
            <a:off x="713232" y="5742432"/>
            <a:ext cx="10652760" cy="365760"/>
          </a:xfrm>
          <a:prstGeom prst="rect">
            <a:avLst/>
          </a:prstGeom>
          <a:noFill/>
        </p:spPr>
        <p:txBody>
          <a:bodyPr wrap="square" lIns="18288" rIns="18288" tIns="0" bIns="0">
            <a:spAutoFit/>
          </a:bodyPr>
          <a:lstStyle/>
          <a:p>
            <a:pPr>
              <a:spcAft>
                <a:spcPts val="500"/>
              </a:spcAft>
              <a:defRPr sz="1600" b="0">
                <a:solidFill>
                  <a:srgbClr val="536577"/>
                </a:solidFill>
                <a:latin typeface="DejaVu Sans"/>
              </a:defRPr>
            </a:pPr>
            <a:r>
              <a:t>Real-user performance, MCU deployment, quantization, and physical control remain future 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Wearable Gesture Controller — ICT 3132 Submission 2</dc:title>
  <dc:subject/>
  <dc:creator>Arya Choudhary; Sanika Singh; Vishad Sharma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